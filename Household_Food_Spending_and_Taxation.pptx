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
  </p:notesMasterIdLst>
  <p:sldIdLst>
    <p:sldId id="256" r:id="rId2"/>
    <p:sldId id="257" r:id="rId3"/>
    <p:sldId id="258" r:id="rId4"/>
    <p:sldId id="261" r:id="rId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A3E34"/>
    <a:srgbClr val="0C252A"/>
    <a:srgbClr val="082E2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88" d="100"/>
          <a:sy n="88" d="100"/>
        </p:scale>
        <p:origin x="228" y="5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831297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28090"/>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C252A"/>
          </a:solidFill>
          <a:ln/>
        </p:spPr>
        <p:txBody>
          <a:bodyPr/>
          <a:lstStyle/>
          <a:p>
            <a:endParaRPr lang="en-SG" dirty="0"/>
          </a:p>
        </p:txBody>
      </p:sp>
      <p:sp>
        <p:nvSpPr>
          <p:cNvPr id="3" name="Text 1"/>
          <p:cNvSpPr/>
          <p:nvPr/>
        </p:nvSpPr>
        <p:spPr>
          <a:xfrm>
            <a:off x="694509" y="1280160"/>
            <a:ext cx="10881360" cy="365760"/>
          </a:xfrm>
          <a:prstGeom prst="rect">
            <a:avLst/>
          </a:prstGeom>
          <a:noFill/>
          <a:ln/>
        </p:spPr>
        <p:txBody>
          <a:bodyPr wrap="square" rtlCol="0" anchor="ctr"/>
          <a:lstStyle/>
          <a:p>
            <a:pPr marL="0" indent="0">
              <a:buNone/>
            </a:pPr>
            <a:r>
              <a:rPr lang="en-US" sz="1300" b="1" kern="0" spc="300" dirty="0">
                <a:solidFill>
                  <a:srgbClr val="02C39A"/>
                </a:solidFill>
                <a:latin typeface="Calibri" pitchFamily="34" charset="0"/>
                <a:ea typeface="Calibri" pitchFamily="34" charset="-122"/>
                <a:cs typeface="Calibri" pitchFamily="34" charset="-120"/>
              </a:rPr>
              <a:t>EVIDENCE FROM STATE AND YEAR FIXED EFFECTS (2020-2024)</a:t>
            </a:r>
            <a:endParaRPr lang="en-US" sz="1300" dirty="0"/>
          </a:p>
        </p:txBody>
      </p:sp>
      <p:sp>
        <p:nvSpPr>
          <p:cNvPr id="4" name="Text 2"/>
          <p:cNvSpPr/>
          <p:nvPr/>
        </p:nvSpPr>
        <p:spPr>
          <a:xfrm>
            <a:off x="616131" y="225334"/>
            <a:ext cx="10881360" cy="1371600"/>
          </a:xfrm>
          <a:prstGeom prst="rect">
            <a:avLst/>
          </a:prstGeom>
          <a:noFill/>
          <a:ln/>
        </p:spPr>
        <p:txBody>
          <a:bodyPr wrap="square" rtlCol="0" anchor="ctr"/>
          <a:lstStyle/>
          <a:p>
            <a:pPr marL="0" indent="0">
              <a:lnSpc>
                <a:spcPct val="105000"/>
              </a:lnSpc>
              <a:buNone/>
            </a:pPr>
            <a:r>
              <a:rPr lang="en-US" sz="3200" b="1" dirty="0">
                <a:solidFill>
                  <a:srgbClr val="FFFFFF"/>
                </a:solidFill>
                <a:latin typeface="Cambria" pitchFamily="34" charset="0"/>
                <a:ea typeface="Cambria" pitchFamily="34" charset="-122"/>
                <a:cs typeface="Cambria" pitchFamily="34" charset="-120"/>
              </a:rPr>
              <a:t>HOUSEHOLD FOOD SPENDING &amp; TAXATION </a:t>
            </a:r>
            <a:endParaRPr lang="en-US" sz="3200" dirty="0"/>
          </a:p>
        </p:txBody>
      </p:sp>
      <p:sp>
        <p:nvSpPr>
          <p:cNvPr id="5" name="Text 3"/>
          <p:cNvSpPr/>
          <p:nvPr/>
        </p:nvSpPr>
        <p:spPr>
          <a:xfrm>
            <a:off x="640080" y="2606040"/>
            <a:ext cx="5120640" cy="365760"/>
          </a:xfrm>
          <a:prstGeom prst="rect">
            <a:avLst/>
          </a:prstGeom>
          <a:noFill/>
          <a:ln/>
        </p:spPr>
        <p:txBody>
          <a:bodyPr wrap="square" rtlCol="0" anchor="ctr"/>
          <a:lstStyle/>
          <a:p>
            <a:pPr marL="0" indent="0">
              <a:buNone/>
            </a:pPr>
            <a:r>
              <a:rPr lang="en-US" sz="1600" b="1" dirty="0">
                <a:solidFill>
                  <a:srgbClr val="02C39A"/>
                </a:solidFill>
                <a:latin typeface="Calibri" pitchFamily="34" charset="0"/>
                <a:ea typeface="Calibri" pitchFamily="34" charset="-122"/>
                <a:cs typeface="Calibri" pitchFamily="34" charset="-120"/>
              </a:rPr>
              <a:t>Research Motivation</a:t>
            </a:r>
            <a:endParaRPr lang="en-US" sz="1600" dirty="0"/>
          </a:p>
        </p:txBody>
      </p:sp>
      <p:sp>
        <p:nvSpPr>
          <p:cNvPr id="6" name="Text 4"/>
          <p:cNvSpPr/>
          <p:nvPr/>
        </p:nvSpPr>
        <p:spPr>
          <a:xfrm>
            <a:off x="640080" y="3017520"/>
            <a:ext cx="6309360" cy="2103120"/>
          </a:xfrm>
          <a:prstGeom prst="rect">
            <a:avLst/>
          </a:prstGeom>
          <a:noFill/>
          <a:ln/>
        </p:spPr>
        <p:txBody>
          <a:bodyPr wrap="square" rtlCol="0" anchor="ctr"/>
          <a:lstStyle/>
          <a:p>
            <a:pPr marL="0" indent="0">
              <a:lnSpc>
                <a:spcPct val="125000"/>
              </a:lnSpc>
              <a:buNone/>
            </a:pPr>
            <a:r>
              <a:rPr lang="en-US" sz="1500" dirty="0">
                <a:solidFill>
                  <a:schemeClr val="bg1"/>
                </a:solidFill>
              </a:rPr>
              <a:t>Structural shifts in the economy since 2020 may have changed how grocery (FAH) and restaurant (FAFH) tax rates affect household food spending, and these effects may vary by state and income group. Prior USDA research on food taxes relies on the National Household Food Acquisition and Purchase Survey (</a:t>
            </a:r>
            <a:r>
              <a:rPr lang="en-US" sz="1500" dirty="0" err="1">
                <a:solidFill>
                  <a:schemeClr val="bg1"/>
                </a:solidFill>
              </a:rPr>
              <a:t>FoodAPS</a:t>
            </a:r>
            <a:r>
              <a:rPr lang="en-US" sz="1500" dirty="0">
                <a:solidFill>
                  <a:schemeClr val="bg1"/>
                </a:solidFill>
              </a:rPr>
              <a:t>) rather than the Current Population Survey (CPS), which offers a larger and more demographically detailed alternative for TWFE regression </a:t>
            </a:r>
          </a:p>
        </p:txBody>
      </p:sp>
      <p:sp>
        <p:nvSpPr>
          <p:cNvPr id="7" name="Shape 5"/>
          <p:cNvSpPr/>
          <p:nvPr/>
        </p:nvSpPr>
        <p:spPr>
          <a:xfrm>
            <a:off x="7269480" y="3017520"/>
            <a:ext cx="2331720" cy="2148840"/>
          </a:xfrm>
          <a:prstGeom prst="roundRect">
            <a:avLst>
              <a:gd name="adj" fmla="val 4255"/>
            </a:avLst>
          </a:prstGeom>
          <a:solidFill>
            <a:srgbClr val="0A3E34"/>
          </a:solidFill>
          <a:ln/>
        </p:spPr>
        <p:txBody>
          <a:bodyPr/>
          <a:lstStyle/>
          <a:p>
            <a:endParaRPr lang="en-SG" dirty="0"/>
          </a:p>
        </p:txBody>
      </p:sp>
      <p:sp>
        <p:nvSpPr>
          <p:cNvPr id="8" name="Text 6"/>
          <p:cNvSpPr/>
          <p:nvPr/>
        </p:nvSpPr>
        <p:spPr>
          <a:xfrm>
            <a:off x="7269480" y="3246120"/>
            <a:ext cx="2331720" cy="914400"/>
          </a:xfrm>
          <a:prstGeom prst="rect">
            <a:avLst/>
          </a:prstGeom>
          <a:noFill/>
          <a:ln/>
        </p:spPr>
        <p:txBody>
          <a:bodyPr wrap="square" rtlCol="0" anchor="ctr"/>
          <a:lstStyle/>
          <a:p>
            <a:pPr marL="0" indent="0" algn="ctr">
              <a:buNone/>
            </a:pPr>
            <a:r>
              <a:rPr lang="en-US" sz="3400" b="1" dirty="0">
                <a:solidFill>
                  <a:srgbClr val="FFFFFF"/>
                </a:solidFill>
                <a:latin typeface="Cambria" pitchFamily="34" charset="0"/>
                <a:ea typeface="Cambria" pitchFamily="34" charset="-122"/>
                <a:cs typeface="Cambria" pitchFamily="34" charset="-120"/>
              </a:rPr>
              <a:t>276,077</a:t>
            </a:r>
            <a:endParaRPr lang="en-US" sz="3400" dirty="0"/>
          </a:p>
        </p:txBody>
      </p:sp>
      <p:sp>
        <p:nvSpPr>
          <p:cNvPr id="9" name="Text 7"/>
          <p:cNvSpPr/>
          <p:nvPr/>
        </p:nvSpPr>
        <p:spPr>
          <a:xfrm>
            <a:off x="7406640" y="4160520"/>
            <a:ext cx="2057400" cy="914400"/>
          </a:xfrm>
          <a:prstGeom prst="rect">
            <a:avLst/>
          </a:prstGeom>
          <a:noFill/>
          <a:ln/>
        </p:spPr>
        <p:txBody>
          <a:bodyPr wrap="square" rtlCol="0" anchor="ctr"/>
          <a:lstStyle/>
          <a:p>
            <a:pPr marL="0" indent="0" algn="ctr">
              <a:lnSpc>
                <a:spcPct val="115000"/>
              </a:lnSpc>
              <a:buNone/>
            </a:pPr>
            <a:r>
              <a:rPr lang="en-US" sz="1150" dirty="0">
                <a:solidFill>
                  <a:srgbClr val="F4F9F8"/>
                </a:solidFill>
                <a:latin typeface="Calibri" pitchFamily="34" charset="0"/>
                <a:ea typeface="Calibri" pitchFamily="34" charset="-122"/>
                <a:cs typeface="Calibri" pitchFamily="34" charset="-120"/>
              </a:rPr>
              <a:t>Household-level</a:t>
            </a:r>
            <a:endParaRPr lang="en-US" sz="1150" dirty="0"/>
          </a:p>
          <a:p>
            <a:pPr marL="0" indent="0" algn="ctr">
              <a:lnSpc>
                <a:spcPct val="115000"/>
              </a:lnSpc>
              <a:buNone/>
            </a:pPr>
            <a:r>
              <a:rPr lang="en-US" sz="1150" dirty="0">
                <a:solidFill>
                  <a:srgbClr val="F4F9F8"/>
                </a:solidFill>
                <a:latin typeface="Calibri" pitchFamily="34" charset="0"/>
                <a:ea typeface="Calibri" pitchFamily="34" charset="-122"/>
                <a:cs typeface="Calibri" pitchFamily="34" charset="-120"/>
              </a:rPr>
              <a:t>Observations</a:t>
            </a:r>
            <a:endParaRPr lang="en-US" sz="1150" dirty="0"/>
          </a:p>
        </p:txBody>
      </p:sp>
      <p:sp>
        <p:nvSpPr>
          <p:cNvPr id="10" name="Shape 8"/>
          <p:cNvSpPr/>
          <p:nvPr/>
        </p:nvSpPr>
        <p:spPr>
          <a:xfrm>
            <a:off x="9738360" y="3017520"/>
            <a:ext cx="2331720" cy="2148840"/>
          </a:xfrm>
          <a:prstGeom prst="roundRect">
            <a:avLst>
              <a:gd name="adj" fmla="val 4255"/>
            </a:avLst>
          </a:prstGeom>
          <a:solidFill>
            <a:srgbClr val="0A3E34"/>
          </a:solidFill>
          <a:ln/>
        </p:spPr>
        <p:txBody>
          <a:bodyPr/>
          <a:lstStyle/>
          <a:p>
            <a:endParaRPr lang="en-SG" dirty="0"/>
          </a:p>
        </p:txBody>
      </p:sp>
      <p:sp>
        <p:nvSpPr>
          <p:cNvPr id="11" name="Text 9"/>
          <p:cNvSpPr/>
          <p:nvPr/>
        </p:nvSpPr>
        <p:spPr>
          <a:xfrm>
            <a:off x="9738360" y="3246120"/>
            <a:ext cx="2331720" cy="914400"/>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50 states + Washington DC</a:t>
            </a:r>
            <a:endParaRPr lang="en-US" sz="2000" dirty="0"/>
          </a:p>
        </p:txBody>
      </p:sp>
      <p:sp>
        <p:nvSpPr>
          <p:cNvPr id="12" name="Text 10"/>
          <p:cNvSpPr/>
          <p:nvPr/>
        </p:nvSpPr>
        <p:spPr>
          <a:xfrm>
            <a:off x="9875520" y="4160520"/>
            <a:ext cx="2057400" cy="914400"/>
          </a:xfrm>
          <a:prstGeom prst="rect">
            <a:avLst/>
          </a:prstGeom>
          <a:noFill/>
          <a:ln/>
        </p:spPr>
        <p:txBody>
          <a:bodyPr wrap="square" rtlCol="0" anchor="ctr"/>
          <a:lstStyle/>
          <a:p>
            <a:pPr marL="0" indent="0" algn="ctr">
              <a:lnSpc>
                <a:spcPct val="115000"/>
              </a:lnSpc>
              <a:buNone/>
            </a:pPr>
            <a:r>
              <a:rPr lang="en-US" sz="1150" dirty="0">
                <a:solidFill>
                  <a:srgbClr val="F4F9F8"/>
                </a:solidFill>
                <a:latin typeface="Calibri" pitchFamily="34" charset="0"/>
                <a:ea typeface="Calibri" pitchFamily="34" charset="-122"/>
                <a:cs typeface="Calibri" pitchFamily="34" charset="-120"/>
              </a:rPr>
              <a:t>Panel Design</a:t>
            </a:r>
            <a:endParaRPr lang="en-US" sz="1150" dirty="0"/>
          </a:p>
        </p:txBody>
      </p:sp>
      <p:sp>
        <p:nvSpPr>
          <p:cNvPr id="13" name="Text 11"/>
          <p:cNvSpPr/>
          <p:nvPr/>
        </p:nvSpPr>
        <p:spPr>
          <a:xfrm>
            <a:off x="640080" y="6309360"/>
            <a:ext cx="10881360" cy="320040"/>
          </a:xfrm>
          <a:prstGeom prst="rect">
            <a:avLst/>
          </a:prstGeom>
          <a:noFill/>
          <a:ln/>
        </p:spPr>
        <p:txBody>
          <a:bodyPr wrap="square" rtlCol="0" anchor="ctr"/>
          <a:lstStyle/>
          <a:p>
            <a:pPr marL="0" indent="0">
              <a:buNone/>
            </a:pPr>
            <a:r>
              <a:rPr lang="en-US" sz="1050" i="1" dirty="0">
                <a:solidFill>
                  <a:srgbClr val="BFE3DF"/>
                </a:solidFill>
                <a:latin typeface="Calibri" pitchFamily="34" charset="0"/>
                <a:ea typeface="Calibri" pitchFamily="34" charset="-122"/>
                <a:cs typeface="Calibri" pitchFamily="34" charset="-120"/>
              </a:rPr>
              <a:t>USDA Food Expenditure Series  •  Current Population Survey </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8" name="Text 6"/>
          <p:cNvSpPr/>
          <p:nvPr/>
        </p:nvSpPr>
        <p:spPr>
          <a:xfrm>
            <a:off x="-402772" y="-38101"/>
            <a:ext cx="4980133" cy="6896101"/>
          </a:xfrm>
          <a:prstGeom prst="rect">
            <a:avLst/>
          </a:prstGeom>
          <a:solidFill>
            <a:srgbClr val="0A3E34"/>
          </a:solidFill>
          <a:ln/>
        </p:spPr>
        <p:txBody>
          <a:bodyPr wrap="square" rtlCol="0" anchor="ctr"/>
          <a:lstStyle/>
          <a:p>
            <a:pPr marL="0" indent="0">
              <a:lnSpc>
                <a:spcPct val="120000"/>
              </a:lnSpc>
              <a:buNone/>
            </a:pPr>
            <a:endParaRPr lang="en-US" sz="1400" dirty="0">
              <a:solidFill>
                <a:schemeClr val="bg1"/>
              </a:solidFill>
            </a:endParaRPr>
          </a:p>
        </p:txBody>
      </p:sp>
      <p:sp>
        <p:nvSpPr>
          <p:cNvPr id="2" name="Text 0"/>
          <p:cNvSpPr/>
          <p:nvPr/>
        </p:nvSpPr>
        <p:spPr>
          <a:xfrm>
            <a:off x="364671" y="183375"/>
            <a:ext cx="3918858" cy="640080"/>
          </a:xfrm>
          <a:prstGeom prst="rect">
            <a:avLst/>
          </a:prstGeom>
          <a:noFill/>
          <a:ln/>
        </p:spPr>
        <p:txBody>
          <a:bodyPr wrap="square" rtlCol="0" anchor="ctr"/>
          <a:lstStyle/>
          <a:p>
            <a:pPr marL="0" indent="0">
              <a:buNone/>
            </a:pPr>
            <a:r>
              <a:rPr lang="en-US" sz="2800" b="1" dirty="0">
                <a:solidFill>
                  <a:schemeClr val="bg1"/>
                </a:solidFill>
                <a:latin typeface="Cambria" pitchFamily="34" charset="0"/>
                <a:ea typeface="Cambria" pitchFamily="34" charset="-122"/>
                <a:cs typeface="Cambria" pitchFamily="34" charset="-120"/>
              </a:rPr>
              <a:t>Research Objectives</a:t>
            </a:r>
            <a:endParaRPr lang="en-US" sz="2800" dirty="0">
              <a:solidFill>
                <a:schemeClr val="bg1"/>
              </a:solidFill>
            </a:endParaRPr>
          </a:p>
        </p:txBody>
      </p:sp>
      <p:sp>
        <p:nvSpPr>
          <p:cNvPr id="6" name="Text 4"/>
          <p:cNvSpPr/>
          <p:nvPr/>
        </p:nvSpPr>
        <p:spPr>
          <a:xfrm>
            <a:off x="868680" y="1920240"/>
            <a:ext cx="502920" cy="502920"/>
          </a:xfrm>
          <a:prstGeom prst="rect">
            <a:avLst/>
          </a:prstGeom>
          <a:noFill/>
          <a:ln/>
        </p:spPr>
        <p:txBody>
          <a:bodyPr wrap="square" rtlCol="0" anchor="ctr"/>
          <a:lstStyle/>
          <a:p>
            <a:pPr marL="0" indent="0" algn="ctr">
              <a:buNone/>
            </a:pPr>
            <a:endParaRPr lang="en-US" sz="2000" dirty="0"/>
          </a:p>
        </p:txBody>
      </p:sp>
      <p:sp>
        <p:nvSpPr>
          <p:cNvPr id="24" name="Text 1">
            <a:extLst>
              <a:ext uri="{FF2B5EF4-FFF2-40B4-BE49-F238E27FC236}">
                <a16:creationId xmlns:a16="http://schemas.microsoft.com/office/drawing/2014/main" id="{0A8AE300-2B60-3EE6-9B9A-5A66740EDB71}"/>
              </a:ext>
            </a:extLst>
          </p:cNvPr>
          <p:cNvSpPr/>
          <p:nvPr/>
        </p:nvSpPr>
        <p:spPr>
          <a:xfrm>
            <a:off x="484414" y="4946408"/>
            <a:ext cx="3849288" cy="365760"/>
          </a:xfrm>
          <a:prstGeom prst="rect">
            <a:avLst/>
          </a:prstGeom>
          <a:noFill/>
          <a:ln/>
        </p:spPr>
        <p:txBody>
          <a:bodyPr wrap="square" rtlCol="0" anchor="ctr"/>
          <a:lstStyle/>
          <a:p>
            <a:r>
              <a:rPr lang="en-US" sz="1400" b="1" dirty="0">
                <a:solidFill>
                  <a:schemeClr val="bg1"/>
                </a:solidFill>
                <a:latin typeface="Calibri" pitchFamily="34" charset="0"/>
                <a:ea typeface="Calibri" pitchFamily="34" charset="-122"/>
                <a:cs typeface="Calibri" pitchFamily="34" charset="-120"/>
              </a:rPr>
              <a:t>Note: </a:t>
            </a:r>
            <a:r>
              <a:rPr lang="en-US" sz="1400" dirty="0">
                <a:solidFill>
                  <a:schemeClr val="bg1"/>
                </a:solidFill>
                <a:latin typeface="Calibri" pitchFamily="34" charset="0"/>
                <a:ea typeface="Calibri" pitchFamily="34" charset="-122"/>
                <a:cs typeface="Calibri" pitchFamily="34" charset="-120"/>
              </a:rPr>
              <a:t>This study captures both pandemic shocks (2020–2021) and post-pandemic stabilization (2022–2024)</a:t>
            </a:r>
            <a:endParaRPr lang="en-US" sz="1400" dirty="0">
              <a:solidFill>
                <a:schemeClr val="bg1"/>
              </a:solidFill>
            </a:endParaRPr>
          </a:p>
        </p:txBody>
      </p:sp>
      <p:sp>
        <p:nvSpPr>
          <p:cNvPr id="17" name="TextBox 16">
            <a:extLst>
              <a:ext uri="{FF2B5EF4-FFF2-40B4-BE49-F238E27FC236}">
                <a16:creationId xmlns:a16="http://schemas.microsoft.com/office/drawing/2014/main" id="{7C1348DE-ADC0-6BB8-288E-E90422B3E831}"/>
              </a:ext>
            </a:extLst>
          </p:cNvPr>
          <p:cNvSpPr txBox="1"/>
          <p:nvPr/>
        </p:nvSpPr>
        <p:spPr>
          <a:xfrm>
            <a:off x="215243" y="1222222"/>
            <a:ext cx="3374571" cy="2660408"/>
          </a:xfrm>
          <a:prstGeom prst="rect">
            <a:avLst/>
          </a:prstGeom>
          <a:noFill/>
        </p:spPr>
        <p:txBody>
          <a:bodyPr wrap="square">
            <a:spAutoFit/>
          </a:bodyPr>
          <a:lstStyle/>
          <a:p>
            <a:pPr marL="342900" indent="-342900">
              <a:lnSpc>
                <a:spcPct val="120000"/>
              </a:lnSpc>
              <a:buAutoNum type="arabicParenR"/>
            </a:pPr>
            <a:r>
              <a:rPr lang="en-US" sz="1400" dirty="0">
                <a:solidFill>
                  <a:schemeClr val="bg1"/>
                </a:solidFill>
                <a:latin typeface="Calibri" pitchFamily="34" charset="0"/>
                <a:ea typeface="Calibri" pitchFamily="34" charset="-122"/>
                <a:cs typeface="Calibri" pitchFamily="34" charset="-120"/>
              </a:rPr>
              <a:t>To examine whether changes in FAH and FAFH sales tax rates affect household food spending across U.S. states + Washington DC (2020–2024), controlling for state and year fixed effects</a:t>
            </a:r>
          </a:p>
          <a:p>
            <a:pPr marL="342900" indent="-342900">
              <a:lnSpc>
                <a:spcPct val="120000"/>
              </a:lnSpc>
              <a:buAutoNum type="arabicParenR"/>
            </a:pPr>
            <a:endParaRPr lang="en-US" sz="1400" dirty="0">
              <a:solidFill>
                <a:schemeClr val="bg1"/>
              </a:solidFill>
              <a:latin typeface="Calibri" pitchFamily="34" charset="0"/>
              <a:ea typeface="Calibri" pitchFamily="34" charset="-122"/>
              <a:cs typeface="Calibri" pitchFamily="34" charset="-120"/>
            </a:endParaRPr>
          </a:p>
          <a:p>
            <a:pPr marL="342900" indent="-342900">
              <a:lnSpc>
                <a:spcPct val="120000"/>
              </a:lnSpc>
              <a:buAutoNum type="arabicParenR"/>
            </a:pPr>
            <a:r>
              <a:rPr lang="en-US" sz="1400" dirty="0">
                <a:solidFill>
                  <a:schemeClr val="bg1"/>
                </a:solidFill>
                <a:latin typeface="Calibri" pitchFamily="34" charset="0"/>
                <a:ea typeface="Calibri" pitchFamily="34" charset="-122"/>
                <a:cs typeface="Calibri" pitchFamily="34" charset="-120"/>
              </a:rPr>
              <a:t>To test whether the effect is regressive for households below 185% of the poverty line</a:t>
            </a:r>
            <a:endParaRPr lang="en-US" sz="1400" dirty="0">
              <a:solidFill>
                <a:schemeClr val="bg1"/>
              </a:solidFill>
            </a:endParaRPr>
          </a:p>
        </p:txBody>
      </p:sp>
      <p:pic>
        <p:nvPicPr>
          <p:cNvPr id="20" name="Picture 19">
            <a:extLst>
              <a:ext uri="{FF2B5EF4-FFF2-40B4-BE49-F238E27FC236}">
                <a16:creationId xmlns:a16="http://schemas.microsoft.com/office/drawing/2014/main" id="{D8E63B7A-92AF-DC98-D5EE-EB9A61D774A1}"/>
              </a:ext>
            </a:extLst>
          </p:cNvPr>
          <p:cNvPicPr>
            <a:picLocks noChangeAspect="1"/>
          </p:cNvPicPr>
          <p:nvPr/>
        </p:nvPicPr>
        <p:blipFill>
          <a:blip r:embed="rId3"/>
          <a:srcRect b="2951"/>
          <a:stretch>
            <a:fillRect/>
          </a:stretch>
        </p:blipFill>
        <p:spPr>
          <a:xfrm>
            <a:off x="4596332" y="3217781"/>
            <a:ext cx="7229528" cy="3457253"/>
          </a:xfrm>
          <a:prstGeom prst="rect">
            <a:avLst/>
          </a:prstGeom>
        </p:spPr>
      </p:pic>
      <p:pic>
        <p:nvPicPr>
          <p:cNvPr id="23" name="Picture 22">
            <a:extLst>
              <a:ext uri="{FF2B5EF4-FFF2-40B4-BE49-F238E27FC236}">
                <a16:creationId xmlns:a16="http://schemas.microsoft.com/office/drawing/2014/main" id="{B3E6E725-53ED-B3C8-3E75-AD7CADF560E8}"/>
              </a:ext>
            </a:extLst>
          </p:cNvPr>
          <p:cNvPicPr>
            <a:picLocks noChangeAspect="1"/>
          </p:cNvPicPr>
          <p:nvPr/>
        </p:nvPicPr>
        <p:blipFill>
          <a:blip r:embed="rId4"/>
          <a:stretch>
            <a:fillRect/>
          </a:stretch>
        </p:blipFill>
        <p:spPr>
          <a:xfrm>
            <a:off x="4596332" y="117406"/>
            <a:ext cx="7562905" cy="300992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87676" y="179340"/>
            <a:ext cx="10881360" cy="640080"/>
          </a:xfrm>
          <a:prstGeom prst="rect">
            <a:avLst/>
          </a:prstGeom>
          <a:noFill/>
          <a:ln/>
        </p:spPr>
        <p:txBody>
          <a:bodyPr wrap="square" rtlCol="0" anchor="ctr"/>
          <a:lstStyle/>
          <a:p>
            <a:pPr marL="0" indent="0">
              <a:buNone/>
            </a:pPr>
            <a:r>
              <a:rPr lang="en-US" sz="3200" b="1" dirty="0">
                <a:solidFill>
                  <a:srgbClr val="0B2B30"/>
                </a:solidFill>
                <a:latin typeface="Cambria" pitchFamily="34" charset="0"/>
                <a:ea typeface="Cambria" pitchFamily="34" charset="-122"/>
                <a:cs typeface="Cambria" pitchFamily="34" charset="-120"/>
              </a:rPr>
              <a:t>Hypotheses + Findings</a:t>
            </a:r>
            <a:endParaRPr lang="en-US" sz="3200" dirty="0"/>
          </a:p>
        </p:txBody>
      </p:sp>
      <p:sp>
        <p:nvSpPr>
          <p:cNvPr id="3" name="Text 1"/>
          <p:cNvSpPr/>
          <p:nvPr/>
        </p:nvSpPr>
        <p:spPr>
          <a:xfrm>
            <a:off x="640080" y="1051560"/>
            <a:ext cx="10881360" cy="365760"/>
          </a:xfrm>
          <a:prstGeom prst="rect">
            <a:avLst/>
          </a:prstGeom>
          <a:noFill/>
          <a:ln/>
        </p:spPr>
        <p:txBody>
          <a:bodyPr wrap="square" rtlCol="0" anchor="ctr"/>
          <a:lstStyle/>
          <a:p>
            <a:pPr marL="0" indent="0">
              <a:buNone/>
            </a:pPr>
            <a:endParaRPr lang="en-US" sz="1400" dirty="0"/>
          </a:p>
        </p:txBody>
      </p:sp>
      <p:sp>
        <p:nvSpPr>
          <p:cNvPr id="4" name="Shape 2"/>
          <p:cNvSpPr/>
          <p:nvPr/>
        </p:nvSpPr>
        <p:spPr>
          <a:xfrm>
            <a:off x="370114" y="1280160"/>
            <a:ext cx="11527971" cy="1985554"/>
          </a:xfrm>
          <a:prstGeom prst="roundRect">
            <a:avLst>
              <a:gd name="adj" fmla="val 4103"/>
            </a:avLst>
          </a:prstGeom>
          <a:solidFill>
            <a:srgbClr val="F4F9F8"/>
          </a:solidFill>
          <a:ln/>
        </p:spPr>
        <p:txBody>
          <a:bodyPr/>
          <a:lstStyle/>
          <a:p>
            <a:endParaRPr lang="en-SG" dirty="0"/>
          </a:p>
        </p:txBody>
      </p:sp>
      <p:sp>
        <p:nvSpPr>
          <p:cNvPr id="5" name="Shape 3"/>
          <p:cNvSpPr/>
          <p:nvPr/>
        </p:nvSpPr>
        <p:spPr>
          <a:xfrm>
            <a:off x="397872" y="1259907"/>
            <a:ext cx="1640477" cy="407129"/>
          </a:xfrm>
          <a:prstGeom prst="roundRect">
            <a:avLst>
              <a:gd name="adj" fmla="val 8333"/>
            </a:avLst>
          </a:prstGeom>
          <a:solidFill>
            <a:srgbClr val="028090"/>
          </a:solidFill>
          <a:ln/>
        </p:spPr>
        <p:txBody>
          <a:bodyPr/>
          <a:lstStyle/>
          <a:p>
            <a:endParaRPr lang="en-SG" dirty="0"/>
          </a:p>
        </p:txBody>
      </p:sp>
      <p:sp>
        <p:nvSpPr>
          <p:cNvPr id="6" name="Text 4"/>
          <p:cNvSpPr/>
          <p:nvPr/>
        </p:nvSpPr>
        <p:spPr>
          <a:xfrm>
            <a:off x="482237" y="1227359"/>
            <a:ext cx="1300843" cy="488555"/>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Model 1</a:t>
            </a:r>
            <a:endParaRPr lang="en-US" sz="2000" dirty="0"/>
          </a:p>
        </p:txBody>
      </p:sp>
      <mc:AlternateContent xmlns:mc="http://schemas.openxmlformats.org/markup-compatibility/2006">
        <mc:Choice xmlns:a14="http://schemas.microsoft.com/office/drawing/2010/main" Requires="a14">
          <p:sp>
            <p:nvSpPr>
              <p:cNvPr id="7" name="Text 5"/>
              <p:cNvSpPr/>
              <p:nvPr/>
            </p:nvSpPr>
            <p:spPr>
              <a:xfrm>
                <a:off x="736962" y="1764792"/>
                <a:ext cx="8961120" cy="914400"/>
              </a:xfrm>
              <a:prstGeom prst="rect">
                <a:avLst/>
              </a:prstGeom>
              <a:noFill/>
              <a:ln/>
            </p:spPr>
            <p:txBody>
              <a:bodyPr wrap="square" rtlCol="0" anchor="ctr"/>
              <a:lstStyle/>
              <a:p>
                <a:pPr lvl="0">
                  <a:lnSpc>
                    <a:spcPct val="150000"/>
                  </a:lnSpc>
                </a:pPr>
                <a:r>
                  <a:rPr lang="en-SG" sz="1400" dirty="0">
                    <a:latin typeface="Calibri" panose="020F0502020204030204" pitchFamily="34" charset="0"/>
                    <a:ea typeface="Calibri" panose="020F0502020204030204" pitchFamily="34" charset="0"/>
                    <a:cs typeface="Calibri" panose="020F0502020204030204" pitchFamily="34" charset="0"/>
                  </a:rPr>
                  <a:t>H0 (Null): FAFH and FAH tax rates have no effect on household food spending (</a:t>
                </a:r>
                <a14:m>
                  <m:oMath xmlns:m="http://schemas.openxmlformats.org/officeDocument/2006/math">
                    <m:sSub>
                      <m:sSubPr>
                        <m:ctrlPr>
                          <a:rPr lang="en-SG" sz="1400" i="1" smtClean="0">
                            <a:latin typeface="Cambria Math" panose="02040503050406030204" pitchFamily="18" charset="0"/>
                            <a:ea typeface="Cambria Math" panose="02040503050406030204" pitchFamily="18" charset="0"/>
                            <a:cs typeface="Calibri" panose="020F0502020204030204" pitchFamily="34" charset="0"/>
                          </a:rPr>
                        </m:ctrlPr>
                      </m:sSubPr>
                      <m:e>
                        <m:r>
                          <a:rPr lang="en-SG" sz="1400" i="1" smtClean="0">
                            <a:latin typeface="Cambria Math" panose="02040503050406030204" pitchFamily="18" charset="0"/>
                            <a:ea typeface="Cambria Math" panose="02040503050406030204" pitchFamily="18" charset="0"/>
                            <a:cs typeface="Calibri" panose="020F0502020204030204" pitchFamily="34" charset="0"/>
                          </a:rPr>
                          <m:t>𝛽</m:t>
                        </m:r>
                      </m:e>
                      <m:sub>
                        <m:r>
                          <a:rPr lang="en-SG" sz="1400" b="0" i="1" smtClean="0">
                            <a:latin typeface="Cambria Math" panose="02040503050406030204" pitchFamily="18" charset="0"/>
                            <a:ea typeface="Cambria Math" panose="02040503050406030204" pitchFamily="18" charset="0"/>
                            <a:cs typeface="Calibri" panose="020F0502020204030204" pitchFamily="34" charset="0"/>
                          </a:rPr>
                          <m:t>1</m:t>
                        </m:r>
                      </m:sub>
                    </m:sSub>
                  </m:oMath>
                </a14:m>
                <a:r>
                  <a:rPr lang="en-SG" sz="1400" dirty="0">
                    <a:latin typeface="Calibri" panose="020F0502020204030204" pitchFamily="34" charset="0"/>
                    <a:ea typeface="Calibri" panose="020F0502020204030204" pitchFamily="34" charset="0"/>
                    <a:cs typeface="Calibri" panose="020F0502020204030204" pitchFamily="34" charset="0"/>
                  </a:rPr>
                  <a:t> = </a:t>
                </a:r>
                <a14:m>
                  <m:oMath xmlns:m="http://schemas.openxmlformats.org/officeDocument/2006/math">
                    <m:sSub>
                      <m:sSubPr>
                        <m:ctrlPr>
                          <a:rPr lang="en-SG" sz="1400" i="1">
                            <a:latin typeface="Cambria Math" panose="02040503050406030204" pitchFamily="18" charset="0"/>
                            <a:ea typeface="Cambria Math" panose="02040503050406030204" pitchFamily="18" charset="0"/>
                            <a:cs typeface="Calibri" panose="020F0502020204030204" pitchFamily="34" charset="0"/>
                          </a:rPr>
                        </m:ctrlPr>
                      </m:sSubPr>
                      <m:e>
                        <m:r>
                          <a:rPr lang="en-SG" sz="1400" i="1">
                            <a:latin typeface="Cambria Math" panose="02040503050406030204" pitchFamily="18" charset="0"/>
                            <a:ea typeface="Cambria Math" panose="02040503050406030204" pitchFamily="18" charset="0"/>
                            <a:cs typeface="Calibri" panose="020F0502020204030204" pitchFamily="34" charset="0"/>
                          </a:rPr>
                          <m:t>𝛽</m:t>
                        </m:r>
                      </m:e>
                      <m:sub>
                        <m:r>
                          <a:rPr lang="en-SG" sz="1400" b="0" i="1" smtClean="0">
                            <a:latin typeface="Cambria Math" panose="02040503050406030204" pitchFamily="18" charset="0"/>
                            <a:ea typeface="Cambria Math" panose="02040503050406030204" pitchFamily="18" charset="0"/>
                            <a:cs typeface="Calibri" panose="020F0502020204030204" pitchFamily="34" charset="0"/>
                          </a:rPr>
                          <m:t>2</m:t>
                        </m:r>
                      </m:sub>
                    </m:sSub>
                  </m:oMath>
                </a14:m>
                <a:r>
                  <a:rPr lang="en-SG" sz="1400" dirty="0">
                    <a:latin typeface="Calibri" panose="020F0502020204030204" pitchFamily="34" charset="0"/>
                    <a:ea typeface="Calibri" panose="020F0502020204030204" pitchFamily="34" charset="0"/>
                    <a:cs typeface="Calibri" panose="020F0502020204030204" pitchFamily="34" charset="0"/>
                  </a:rPr>
                  <a:t> = 0).</a:t>
                </a:r>
              </a:p>
              <a:p>
                <a:pPr lvl="0">
                  <a:lnSpc>
                    <a:spcPct val="150000"/>
                  </a:lnSpc>
                </a:pPr>
                <a:r>
                  <a:rPr lang="en-SG" sz="1400" b="1" dirty="0">
                    <a:latin typeface="Calibri" panose="020F0502020204030204" pitchFamily="34" charset="0"/>
                    <a:ea typeface="Calibri" panose="020F0502020204030204" pitchFamily="34" charset="0"/>
                    <a:cs typeface="Calibri" panose="020F0502020204030204" pitchFamily="34" charset="0"/>
                  </a:rPr>
                  <a:t>H1 (Alternative):</a:t>
                </a:r>
                <a:r>
                  <a:rPr lang="en-SG" sz="1400" dirty="0">
                    <a:latin typeface="Calibri" panose="020F0502020204030204" pitchFamily="34" charset="0"/>
                    <a:ea typeface="Calibri" panose="020F0502020204030204" pitchFamily="34" charset="0"/>
                    <a:cs typeface="Calibri" panose="020F0502020204030204" pitchFamily="34" charset="0"/>
                  </a:rPr>
                  <a:t> FAFH and/or FAH tax rates have a significant effect on household food spending (</a:t>
                </a:r>
                <a14:m>
                  <m:oMath xmlns:m="http://schemas.openxmlformats.org/officeDocument/2006/math">
                    <m:sSub>
                      <m:sSubPr>
                        <m:ctrlPr>
                          <a:rPr lang="en-SG" sz="1400" i="1">
                            <a:latin typeface="Cambria Math" panose="02040503050406030204" pitchFamily="18" charset="0"/>
                            <a:ea typeface="Cambria Math" panose="02040503050406030204" pitchFamily="18" charset="0"/>
                            <a:cs typeface="Calibri" panose="020F0502020204030204" pitchFamily="34" charset="0"/>
                          </a:rPr>
                        </m:ctrlPr>
                      </m:sSubPr>
                      <m:e>
                        <m:r>
                          <a:rPr lang="en-SG" sz="1400" i="1">
                            <a:latin typeface="Cambria Math" panose="02040503050406030204" pitchFamily="18" charset="0"/>
                            <a:ea typeface="Cambria Math" panose="02040503050406030204" pitchFamily="18" charset="0"/>
                            <a:cs typeface="Calibri" panose="020F0502020204030204" pitchFamily="34" charset="0"/>
                          </a:rPr>
                          <m:t>𝛽</m:t>
                        </m:r>
                      </m:e>
                      <m:sub>
                        <m:r>
                          <a:rPr lang="en-SG" sz="1400" i="1">
                            <a:latin typeface="Cambria Math" panose="02040503050406030204" pitchFamily="18" charset="0"/>
                            <a:ea typeface="Cambria Math" panose="02040503050406030204" pitchFamily="18" charset="0"/>
                            <a:cs typeface="Calibri" panose="020F0502020204030204" pitchFamily="34" charset="0"/>
                          </a:rPr>
                          <m:t>1</m:t>
                        </m:r>
                      </m:sub>
                    </m:sSub>
                  </m:oMath>
                </a14:m>
                <a:r>
                  <a:rPr lang="en-SG" sz="1400" dirty="0">
                    <a:latin typeface="Calibri" panose="020F0502020204030204" pitchFamily="34" charset="0"/>
                    <a:ea typeface="Calibri" panose="020F0502020204030204" pitchFamily="34" charset="0"/>
                    <a:cs typeface="Calibri" panose="020F0502020204030204" pitchFamily="34" charset="0"/>
                  </a:rPr>
                  <a:t> </a:t>
                </a:r>
                <a14:m>
                  <m:oMath xmlns:m="http://schemas.openxmlformats.org/officeDocument/2006/math">
                    <m:r>
                      <a:rPr lang="en-SG" sz="1400" i="1" dirty="0" smtClean="0">
                        <a:latin typeface="Cambria Math" panose="02040503050406030204" pitchFamily="18" charset="0"/>
                        <a:ea typeface="Cambria Math" panose="02040503050406030204" pitchFamily="18" charset="0"/>
                        <a:cs typeface="Calibri" panose="020F0502020204030204" pitchFamily="34" charset="0"/>
                      </a:rPr>
                      <m:t>≠</m:t>
                    </m:r>
                    <m:r>
                      <a:rPr lang="en-SG" sz="1400" b="0" i="1" dirty="0" smtClean="0">
                        <a:latin typeface="Cambria Math" panose="02040503050406030204" pitchFamily="18" charset="0"/>
                        <a:ea typeface="Cambria Math" panose="02040503050406030204" pitchFamily="18" charset="0"/>
                        <a:cs typeface="Calibri" panose="020F0502020204030204" pitchFamily="34" charset="0"/>
                      </a:rPr>
                      <m:t>0 </m:t>
                    </m:r>
                  </m:oMath>
                </a14:m>
                <a:r>
                  <a:rPr lang="en-SG" sz="1400" dirty="0">
                    <a:latin typeface="Calibri" panose="020F0502020204030204" pitchFamily="34" charset="0"/>
                    <a:ea typeface="Calibri" panose="020F0502020204030204" pitchFamily="34" charset="0"/>
                    <a:cs typeface="Calibri" panose="020F0502020204030204" pitchFamily="34" charset="0"/>
                  </a:rPr>
                  <a:t>and/or </a:t>
                </a:r>
                <a14:m>
                  <m:oMath xmlns:m="http://schemas.openxmlformats.org/officeDocument/2006/math">
                    <m:sSub>
                      <m:sSubPr>
                        <m:ctrlPr>
                          <a:rPr lang="en-SG" sz="1400" i="1">
                            <a:latin typeface="Cambria Math" panose="02040503050406030204" pitchFamily="18" charset="0"/>
                            <a:ea typeface="Cambria Math" panose="02040503050406030204" pitchFamily="18" charset="0"/>
                            <a:cs typeface="Calibri" panose="020F0502020204030204" pitchFamily="34" charset="0"/>
                          </a:rPr>
                        </m:ctrlPr>
                      </m:sSubPr>
                      <m:e>
                        <m:r>
                          <a:rPr lang="en-SG" sz="1400" i="1">
                            <a:latin typeface="Cambria Math" panose="02040503050406030204" pitchFamily="18" charset="0"/>
                            <a:ea typeface="Cambria Math" panose="02040503050406030204" pitchFamily="18" charset="0"/>
                            <a:cs typeface="Calibri" panose="020F0502020204030204" pitchFamily="34" charset="0"/>
                          </a:rPr>
                          <m:t>𝛽</m:t>
                        </m:r>
                      </m:e>
                      <m:sub>
                        <m:r>
                          <a:rPr lang="en-SG" sz="1400" i="1">
                            <a:latin typeface="Cambria Math" panose="02040503050406030204" pitchFamily="18" charset="0"/>
                            <a:ea typeface="Cambria Math" panose="02040503050406030204" pitchFamily="18" charset="0"/>
                            <a:cs typeface="Calibri" panose="020F0502020204030204" pitchFamily="34" charset="0"/>
                          </a:rPr>
                          <m:t>2</m:t>
                        </m:r>
                      </m:sub>
                    </m:sSub>
                  </m:oMath>
                </a14:m>
                <a:r>
                  <a:rPr lang="en-SG" sz="1400" dirty="0">
                    <a:latin typeface="Calibri" panose="020F0502020204030204" pitchFamily="34" charset="0"/>
                    <a:ea typeface="Calibri" panose="020F0502020204030204" pitchFamily="34" charset="0"/>
                    <a:cs typeface="Calibri" panose="020F0502020204030204" pitchFamily="34" charset="0"/>
                  </a:rPr>
                  <a:t> </a:t>
                </a:r>
                <a14:m>
                  <m:oMath xmlns:m="http://schemas.openxmlformats.org/officeDocument/2006/math">
                    <m:r>
                      <a:rPr lang="en-SG" sz="1400" i="1" dirty="0">
                        <a:latin typeface="Cambria Math" panose="02040503050406030204" pitchFamily="18" charset="0"/>
                        <a:ea typeface="Cambria Math" panose="02040503050406030204" pitchFamily="18" charset="0"/>
                        <a:cs typeface="Calibri" panose="020F0502020204030204" pitchFamily="34" charset="0"/>
                      </a:rPr>
                      <m:t>≠0</m:t>
                    </m:r>
                  </m:oMath>
                </a14:m>
                <a:r>
                  <a:rPr lang="en-SG" sz="1400" dirty="0">
                    <a:latin typeface="Calibri" panose="020F0502020204030204" pitchFamily="34" charset="0"/>
                    <a:ea typeface="Calibri" panose="020F0502020204030204" pitchFamily="34" charset="0"/>
                    <a:cs typeface="Calibri" panose="020F0502020204030204" pitchFamily="34" charset="0"/>
                  </a:rPr>
                  <a:t>).</a:t>
                </a:r>
              </a:p>
              <a:p>
                <a:pPr marL="0" indent="0">
                  <a:lnSpc>
                    <a:spcPct val="150000"/>
                  </a:lnSpc>
                  <a:buNone/>
                </a:pPr>
                <a:endParaRPr lang="en-US" sz="1550" dirty="0"/>
              </a:p>
            </p:txBody>
          </p:sp>
        </mc:Choice>
        <mc:Fallback>
          <p:sp>
            <p:nvSpPr>
              <p:cNvPr id="7" name="Text 5"/>
              <p:cNvSpPr>
                <a:spLocks noRot="1" noChangeAspect="1" noMove="1" noResize="1" noEditPoints="1" noAdjustHandles="1" noChangeArrowheads="1" noChangeShapeType="1" noTextEdit="1"/>
              </p:cNvSpPr>
              <p:nvPr/>
            </p:nvSpPr>
            <p:spPr>
              <a:xfrm>
                <a:off x="736962" y="1764792"/>
                <a:ext cx="8961120" cy="914400"/>
              </a:xfrm>
              <a:prstGeom prst="rect">
                <a:avLst/>
              </a:prstGeom>
              <a:blipFill>
                <a:blip r:embed="rId3"/>
                <a:stretch>
                  <a:fillRect l="-204" t="-667"/>
                </a:stretch>
              </a:blipFill>
              <a:ln/>
            </p:spPr>
            <p:txBody>
              <a:bodyPr/>
              <a:lstStyle/>
              <a:p>
                <a:r>
                  <a:rPr lang="en-SG">
                    <a:noFill/>
                  </a:rPr>
                  <a:t> </a:t>
                </a:r>
              </a:p>
            </p:txBody>
          </p:sp>
        </mc:Fallback>
      </mc:AlternateContent>
      <p:sp>
        <p:nvSpPr>
          <p:cNvPr id="8" name="Text 6"/>
          <p:cNvSpPr/>
          <p:nvPr/>
        </p:nvSpPr>
        <p:spPr>
          <a:xfrm>
            <a:off x="670560" y="2350008"/>
            <a:ext cx="11227526" cy="1005840"/>
          </a:xfrm>
          <a:prstGeom prst="rect">
            <a:avLst/>
          </a:prstGeom>
          <a:noFill/>
          <a:ln/>
        </p:spPr>
        <p:txBody>
          <a:bodyPr wrap="square" rtlCol="0" anchor="ctr"/>
          <a:lstStyle/>
          <a:p>
            <a:pPr>
              <a:lnSpc>
                <a:spcPct val="125000"/>
              </a:lnSpc>
            </a:pPr>
            <a:r>
              <a:rPr lang="en-US" sz="1400" b="1" dirty="0">
                <a:latin typeface="Calibri" pitchFamily="34" charset="0"/>
                <a:ea typeface="Calibri" pitchFamily="34" charset="-122"/>
                <a:cs typeface="Calibri" pitchFamily="34" charset="-120"/>
              </a:rPr>
              <a:t>Findings: </a:t>
            </a:r>
            <a:r>
              <a:rPr lang="en-US" sz="1400" dirty="0">
                <a:latin typeface="Calibri" pitchFamily="34" charset="0"/>
                <a:ea typeface="Calibri" pitchFamily="34" charset="-122"/>
                <a:cs typeface="Calibri" pitchFamily="34" charset="-120"/>
              </a:rPr>
              <a:t>Neither FAFH nor FAH tax rates show a statistically significant effect on food spending when tested without accounting for income differences.</a:t>
            </a:r>
          </a:p>
          <a:p>
            <a:pPr>
              <a:lnSpc>
                <a:spcPct val="125000"/>
              </a:lnSpc>
            </a:pPr>
            <a:r>
              <a:rPr lang="en-SG" sz="1400" dirty="0"/>
              <a:t>Under one-way FE (no year controls), FAFH becomes significant and positive, while FAH turns significant and negative</a:t>
            </a:r>
            <a:endParaRPr lang="en-US" sz="1400" dirty="0"/>
          </a:p>
        </p:txBody>
      </p:sp>
      <p:sp>
        <p:nvSpPr>
          <p:cNvPr id="16" name="Shape 2">
            <a:extLst>
              <a:ext uri="{FF2B5EF4-FFF2-40B4-BE49-F238E27FC236}">
                <a16:creationId xmlns:a16="http://schemas.microsoft.com/office/drawing/2014/main" id="{6E9593A3-AE6E-3465-3473-B01D139F49C5}"/>
              </a:ext>
            </a:extLst>
          </p:cNvPr>
          <p:cNvSpPr/>
          <p:nvPr/>
        </p:nvSpPr>
        <p:spPr>
          <a:xfrm>
            <a:off x="370113" y="3429000"/>
            <a:ext cx="11533411" cy="3249660"/>
          </a:xfrm>
          <a:prstGeom prst="roundRect">
            <a:avLst>
              <a:gd name="adj" fmla="val 4103"/>
            </a:avLst>
          </a:prstGeom>
          <a:solidFill>
            <a:srgbClr val="F4F9F8"/>
          </a:solidFill>
          <a:ln/>
        </p:spPr>
        <p:txBody>
          <a:bodyPr/>
          <a:lstStyle/>
          <a:p>
            <a:endParaRPr lang="en-SG" dirty="0"/>
          </a:p>
        </p:txBody>
      </p:sp>
      <p:sp>
        <p:nvSpPr>
          <p:cNvPr id="18" name="Shape 3">
            <a:extLst>
              <a:ext uri="{FF2B5EF4-FFF2-40B4-BE49-F238E27FC236}">
                <a16:creationId xmlns:a16="http://schemas.microsoft.com/office/drawing/2014/main" id="{FF3A07BE-CEF4-91C2-B502-6ABFB9509068}"/>
              </a:ext>
            </a:extLst>
          </p:cNvPr>
          <p:cNvSpPr/>
          <p:nvPr/>
        </p:nvSpPr>
        <p:spPr>
          <a:xfrm>
            <a:off x="403311" y="3589461"/>
            <a:ext cx="1640477" cy="407129"/>
          </a:xfrm>
          <a:prstGeom prst="roundRect">
            <a:avLst>
              <a:gd name="adj" fmla="val 8333"/>
            </a:avLst>
          </a:prstGeom>
          <a:solidFill>
            <a:srgbClr val="028090"/>
          </a:solidFill>
          <a:ln/>
        </p:spPr>
        <p:txBody>
          <a:bodyPr/>
          <a:lstStyle/>
          <a:p>
            <a:endParaRPr lang="en-SG" dirty="0"/>
          </a:p>
        </p:txBody>
      </p:sp>
      <p:sp>
        <p:nvSpPr>
          <p:cNvPr id="20" name="Text 4">
            <a:extLst>
              <a:ext uri="{FF2B5EF4-FFF2-40B4-BE49-F238E27FC236}">
                <a16:creationId xmlns:a16="http://schemas.microsoft.com/office/drawing/2014/main" id="{6ADE5338-B0F9-0595-3F53-EAFE4C382F4F}"/>
              </a:ext>
            </a:extLst>
          </p:cNvPr>
          <p:cNvSpPr/>
          <p:nvPr/>
        </p:nvSpPr>
        <p:spPr>
          <a:xfrm>
            <a:off x="487676" y="3556913"/>
            <a:ext cx="1300843" cy="488555"/>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Model 2</a:t>
            </a:r>
            <a:endParaRPr lang="en-US" sz="2000" dirty="0"/>
          </a:p>
        </p:txBody>
      </p:sp>
      <mc:AlternateContent xmlns:mc="http://schemas.openxmlformats.org/markup-compatibility/2006">
        <mc:Choice xmlns:a14="http://schemas.microsoft.com/office/drawing/2010/main" Requires="a14">
          <p:sp>
            <p:nvSpPr>
              <p:cNvPr id="22" name="Text 5">
                <a:extLst>
                  <a:ext uri="{FF2B5EF4-FFF2-40B4-BE49-F238E27FC236}">
                    <a16:creationId xmlns:a16="http://schemas.microsoft.com/office/drawing/2014/main" id="{47E4D219-C249-646E-A065-D8582A20A9EB}"/>
                  </a:ext>
                </a:extLst>
              </p:cNvPr>
              <p:cNvSpPr/>
              <p:nvPr/>
            </p:nvSpPr>
            <p:spPr>
              <a:xfrm>
                <a:off x="715191" y="3829272"/>
                <a:ext cx="10989133" cy="1621960"/>
              </a:xfrm>
              <a:prstGeom prst="rect">
                <a:avLst/>
              </a:prstGeom>
              <a:noFill/>
              <a:ln/>
            </p:spPr>
            <p:txBody>
              <a:bodyPr wrap="square" rtlCol="0" anchor="ctr"/>
              <a:lstStyle/>
              <a:p>
                <a:pPr lvl="0">
                  <a:lnSpc>
                    <a:spcPct val="150000"/>
                  </a:lnSpc>
                </a:pPr>
                <a:endParaRPr lang="en-SG" sz="1400" dirty="0">
                  <a:latin typeface="Calibri" panose="020F0502020204030204" pitchFamily="34" charset="0"/>
                  <a:ea typeface="Calibri" panose="020F0502020204030204" pitchFamily="34" charset="0"/>
                  <a:cs typeface="Calibri" panose="020F0502020204030204" pitchFamily="34" charset="0"/>
                </a:endParaRPr>
              </a:p>
              <a:p>
                <a:r>
                  <a:rPr lang="en-SG" sz="1400" dirty="0"/>
                  <a:t>H0 (Null): The effect of FAFH and FAH tax rates on household food spending does not differ between below-poverty and above-poverty households </a:t>
                </a:r>
                <a:r>
                  <a:rPr lang="en-SG" sz="1400" dirty="0">
                    <a:latin typeface="Calibri" panose="020F0502020204030204" pitchFamily="34" charset="0"/>
                    <a:ea typeface="Calibri" panose="020F0502020204030204" pitchFamily="34" charset="0"/>
                    <a:cs typeface="Calibri" panose="020F0502020204030204" pitchFamily="34" charset="0"/>
                  </a:rPr>
                  <a:t>(</a:t>
                </a:r>
                <a14:m>
                  <m:oMath xmlns:m="http://schemas.openxmlformats.org/officeDocument/2006/math">
                    <m:sSub>
                      <m:sSubPr>
                        <m:ctrlPr>
                          <a:rPr lang="en-SG" sz="1400" b="0" i="1" smtClean="0">
                            <a:latin typeface="Cambria Math" panose="02040503050406030204" pitchFamily="18" charset="0"/>
                            <a:ea typeface="Cambria Math" panose="02040503050406030204" pitchFamily="18" charset="0"/>
                            <a:cs typeface="Calibri" panose="020F0502020204030204" pitchFamily="34" charset="0"/>
                          </a:rPr>
                        </m:ctrlPr>
                      </m:sSubPr>
                      <m:e>
                        <m:r>
                          <a:rPr lang="en-SG" sz="1400" b="0" i="1" smtClean="0">
                            <a:latin typeface="Cambria Math" panose="02040503050406030204" pitchFamily="18" charset="0"/>
                            <a:ea typeface="Cambria Math" panose="02040503050406030204" pitchFamily="18" charset="0"/>
                            <a:cs typeface="Calibri" panose="020F0502020204030204" pitchFamily="34" charset="0"/>
                          </a:rPr>
                          <m:t>𝛽</m:t>
                        </m:r>
                      </m:e>
                      <m:sub>
                        <m:r>
                          <a:rPr lang="en-SG" sz="1400" b="0" i="1" smtClean="0">
                            <a:latin typeface="Cambria Math" panose="02040503050406030204" pitchFamily="18" charset="0"/>
                            <a:ea typeface="Cambria Math" panose="02040503050406030204" pitchFamily="18" charset="0"/>
                            <a:cs typeface="Calibri" panose="020F0502020204030204" pitchFamily="34" charset="0"/>
                          </a:rPr>
                          <m:t>3</m:t>
                        </m:r>
                      </m:sub>
                    </m:sSub>
                  </m:oMath>
                </a14:m>
                <a:r>
                  <a:rPr lang="en-SG" sz="1400" dirty="0">
                    <a:latin typeface="Calibri" panose="020F0502020204030204" pitchFamily="34" charset="0"/>
                    <a:ea typeface="Calibri" panose="020F0502020204030204" pitchFamily="34" charset="0"/>
                    <a:cs typeface="Calibri" panose="020F0502020204030204" pitchFamily="34" charset="0"/>
                  </a:rPr>
                  <a:t> = </a:t>
                </a:r>
                <a14:m>
                  <m:oMath xmlns:m="http://schemas.openxmlformats.org/officeDocument/2006/math">
                    <m:sSub>
                      <m:sSubPr>
                        <m:ctrlPr>
                          <a:rPr lang="en-SG" sz="1400" b="0" i="1" smtClean="0">
                            <a:latin typeface="Cambria Math" panose="02040503050406030204" pitchFamily="18" charset="0"/>
                            <a:ea typeface="Cambria Math" panose="02040503050406030204" pitchFamily="18" charset="0"/>
                            <a:cs typeface="Calibri" panose="020F0502020204030204" pitchFamily="34" charset="0"/>
                          </a:rPr>
                        </m:ctrlPr>
                      </m:sSubPr>
                      <m:e>
                        <m:r>
                          <a:rPr lang="en-SG" sz="1400" b="0" i="1" smtClean="0">
                            <a:latin typeface="Cambria Math" panose="02040503050406030204" pitchFamily="18" charset="0"/>
                            <a:ea typeface="Cambria Math" panose="02040503050406030204" pitchFamily="18" charset="0"/>
                            <a:cs typeface="Calibri" panose="020F0502020204030204" pitchFamily="34" charset="0"/>
                          </a:rPr>
                          <m:t>𝛽</m:t>
                        </m:r>
                      </m:e>
                      <m:sub>
                        <m:r>
                          <a:rPr lang="en-SG" sz="1400" b="0" i="1" smtClean="0">
                            <a:latin typeface="Cambria Math" panose="02040503050406030204" pitchFamily="18" charset="0"/>
                            <a:ea typeface="Cambria Math" panose="02040503050406030204" pitchFamily="18" charset="0"/>
                            <a:cs typeface="Calibri" panose="020F0502020204030204" pitchFamily="34" charset="0"/>
                          </a:rPr>
                          <m:t>4</m:t>
                        </m:r>
                      </m:sub>
                    </m:sSub>
                  </m:oMath>
                </a14:m>
                <a:r>
                  <a:rPr lang="en-SG" sz="1400" dirty="0">
                    <a:latin typeface="Calibri" panose="020F0502020204030204" pitchFamily="34" charset="0"/>
                    <a:ea typeface="Calibri" panose="020F0502020204030204" pitchFamily="34" charset="0"/>
                    <a:cs typeface="Calibri" panose="020F0502020204030204" pitchFamily="34" charset="0"/>
                  </a:rPr>
                  <a:t> = 0).</a:t>
                </a:r>
              </a:p>
              <a:p>
                <a:endParaRPr lang="en-SG" sz="1400" dirty="0"/>
              </a:p>
              <a:p>
                <a:r>
                  <a:rPr lang="en-SG" sz="1400" b="1" dirty="0"/>
                  <a:t>H1 (Alternative): </a:t>
                </a:r>
                <a:r>
                  <a:rPr lang="en-SG" sz="1400" dirty="0"/>
                  <a:t>The effect of FAFH and/or FAH tax rates on household food spending differs between below-poverty and above-poverty households </a:t>
                </a:r>
                <a:r>
                  <a:rPr lang="en-SG" sz="1400" dirty="0">
                    <a:latin typeface="Calibri" panose="020F0502020204030204" pitchFamily="34" charset="0"/>
                    <a:ea typeface="Calibri" panose="020F0502020204030204" pitchFamily="34" charset="0"/>
                    <a:cs typeface="Calibri" panose="020F0502020204030204" pitchFamily="34" charset="0"/>
                  </a:rPr>
                  <a:t>(</a:t>
                </a:r>
                <a14:m>
                  <m:oMath xmlns:m="http://schemas.openxmlformats.org/officeDocument/2006/math">
                    <m:sSub>
                      <m:sSubPr>
                        <m:ctrlPr>
                          <a:rPr lang="en-SG" sz="1400" b="0" i="1" smtClean="0">
                            <a:latin typeface="Cambria Math" panose="02040503050406030204" pitchFamily="18" charset="0"/>
                            <a:ea typeface="Cambria Math" panose="02040503050406030204" pitchFamily="18" charset="0"/>
                            <a:cs typeface="Calibri" panose="020F0502020204030204" pitchFamily="34" charset="0"/>
                          </a:rPr>
                        </m:ctrlPr>
                      </m:sSubPr>
                      <m:e>
                        <m:r>
                          <a:rPr lang="en-SG" sz="1400" b="0" i="1" smtClean="0">
                            <a:latin typeface="Cambria Math" panose="02040503050406030204" pitchFamily="18" charset="0"/>
                            <a:ea typeface="Cambria Math" panose="02040503050406030204" pitchFamily="18" charset="0"/>
                            <a:cs typeface="Calibri" panose="020F0502020204030204" pitchFamily="34" charset="0"/>
                          </a:rPr>
                          <m:t>𝛽</m:t>
                        </m:r>
                      </m:e>
                      <m:sub>
                        <m:r>
                          <a:rPr lang="en-SG" sz="1400" b="0" i="1" smtClean="0">
                            <a:latin typeface="Cambria Math" panose="02040503050406030204" pitchFamily="18" charset="0"/>
                            <a:ea typeface="Cambria Math" panose="02040503050406030204" pitchFamily="18" charset="0"/>
                            <a:cs typeface="Calibri" panose="020F0502020204030204" pitchFamily="34" charset="0"/>
                          </a:rPr>
                          <m:t>3</m:t>
                        </m:r>
                      </m:sub>
                    </m:sSub>
                  </m:oMath>
                </a14:m>
                <a:r>
                  <a:rPr lang="en-SG" sz="1400" dirty="0">
                    <a:latin typeface="Calibri" panose="020F0502020204030204" pitchFamily="34" charset="0"/>
                    <a:ea typeface="Calibri" panose="020F0502020204030204" pitchFamily="34" charset="0"/>
                    <a:cs typeface="Calibri" panose="020F0502020204030204" pitchFamily="34" charset="0"/>
                  </a:rPr>
                  <a:t> </a:t>
                </a:r>
                <a14:m>
                  <m:oMath xmlns:m="http://schemas.openxmlformats.org/officeDocument/2006/math">
                    <m:r>
                      <a:rPr lang="en-SG" sz="1400" b="0" i="1" dirty="0" smtClean="0">
                        <a:latin typeface="Cambria Math" panose="02040503050406030204" pitchFamily="18" charset="0"/>
                        <a:ea typeface="Cambria Math" panose="02040503050406030204" pitchFamily="18" charset="0"/>
                        <a:cs typeface="Calibri" panose="020F0502020204030204" pitchFamily="34" charset="0"/>
                      </a:rPr>
                      <m:t>≠0 </m:t>
                    </m:r>
                  </m:oMath>
                </a14:m>
                <a:r>
                  <a:rPr lang="en-SG" sz="1400" dirty="0">
                    <a:latin typeface="Calibri" panose="020F0502020204030204" pitchFamily="34" charset="0"/>
                    <a:ea typeface="Calibri" panose="020F0502020204030204" pitchFamily="34" charset="0"/>
                    <a:cs typeface="Calibri" panose="020F0502020204030204" pitchFamily="34" charset="0"/>
                  </a:rPr>
                  <a:t>and/or </a:t>
                </a:r>
                <a14:m>
                  <m:oMath xmlns:m="http://schemas.openxmlformats.org/officeDocument/2006/math">
                    <m:sSub>
                      <m:sSubPr>
                        <m:ctrlPr>
                          <a:rPr lang="en-SG" sz="1400" b="0" i="1" smtClean="0">
                            <a:latin typeface="Cambria Math" panose="02040503050406030204" pitchFamily="18" charset="0"/>
                            <a:ea typeface="Cambria Math" panose="02040503050406030204" pitchFamily="18" charset="0"/>
                            <a:cs typeface="Calibri" panose="020F0502020204030204" pitchFamily="34" charset="0"/>
                          </a:rPr>
                        </m:ctrlPr>
                      </m:sSubPr>
                      <m:e>
                        <m:r>
                          <a:rPr lang="en-SG" sz="1400" b="0" i="1" smtClean="0">
                            <a:latin typeface="Cambria Math" panose="02040503050406030204" pitchFamily="18" charset="0"/>
                            <a:ea typeface="Cambria Math" panose="02040503050406030204" pitchFamily="18" charset="0"/>
                            <a:cs typeface="Calibri" panose="020F0502020204030204" pitchFamily="34" charset="0"/>
                          </a:rPr>
                          <m:t>𝛽</m:t>
                        </m:r>
                      </m:e>
                      <m:sub>
                        <m:r>
                          <a:rPr lang="en-SG" sz="1400" b="0" i="1" smtClean="0">
                            <a:latin typeface="Cambria Math" panose="02040503050406030204" pitchFamily="18" charset="0"/>
                            <a:ea typeface="Cambria Math" panose="02040503050406030204" pitchFamily="18" charset="0"/>
                            <a:cs typeface="Calibri" panose="020F0502020204030204" pitchFamily="34" charset="0"/>
                          </a:rPr>
                          <m:t>4</m:t>
                        </m:r>
                      </m:sub>
                    </m:sSub>
                  </m:oMath>
                </a14:m>
                <a:r>
                  <a:rPr lang="en-SG" sz="1400" dirty="0">
                    <a:latin typeface="Calibri" panose="020F0502020204030204" pitchFamily="34" charset="0"/>
                    <a:ea typeface="Calibri" panose="020F0502020204030204" pitchFamily="34" charset="0"/>
                    <a:cs typeface="Calibri" panose="020F0502020204030204" pitchFamily="34" charset="0"/>
                  </a:rPr>
                  <a:t> </a:t>
                </a:r>
                <a14:m>
                  <m:oMath xmlns:m="http://schemas.openxmlformats.org/officeDocument/2006/math">
                    <m:r>
                      <a:rPr lang="en-SG" sz="1400" b="0" i="1" dirty="0" smtClean="0">
                        <a:latin typeface="Cambria Math" panose="02040503050406030204" pitchFamily="18" charset="0"/>
                        <a:ea typeface="Cambria Math" panose="02040503050406030204" pitchFamily="18" charset="0"/>
                        <a:cs typeface="Calibri" panose="020F0502020204030204" pitchFamily="34" charset="0"/>
                      </a:rPr>
                      <m:t>≠0).</m:t>
                    </m:r>
                  </m:oMath>
                </a14:m>
                <a:endParaRPr lang="en-SG" sz="1400" dirty="0">
                  <a:latin typeface="Calibri" panose="020F0502020204030204" pitchFamily="34" charset="0"/>
                  <a:ea typeface="Calibri" panose="020F0502020204030204" pitchFamily="34" charset="0"/>
                  <a:cs typeface="Calibri" panose="020F0502020204030204" pitchFamily="34" charset="0"/>
                </a:endParaRPr>
              </a:p>
            </p:txBody>
          </p:sp>
        </mc:Choice>
        <mc:Fallback>
          <p:sp>
            <p:nvSpPr>
              <p:cNvPr id="22" name="Text 5">
                <a:extLst>
                  <a:ext uri="{FF2B5EF4-FFF2-40B4-BE49-F238E27FC236}">
                    <a16:creationId xmlns:a16="http://schemas.microsoft.com/office/drawing/2014/main" id="{47E4D219-C249-646E-A065-D8582A20A9EB}"/>
                  </a:ext>
                </a:extLst>
              </p:cNvPr>
              <p:cNvSpPr>
                <a:spLocks noRot="1" noChangeAspect="1" noMove="1" noResize="1" noEditPoints="1" noAdjustHandles="1" noChangeArrowheads="1" noChangeShapeType="1" noTextEdit="1"/>
              </p:cNvSpPr>
              <p:nvPr/>
            </p:nvSpPr>
            <p:spPr>
              <a:xfrm>
                <a:off x="715191" y="3829272"/>
                <a:ext cx="10989133" cy="1621960"/>
              </a:xfrm>
              <a:prstGeom prst="rect">
                <a:avLst/>
              </a:prstGeom>
              <a:blipFill>
                <a:blip r:embed="rId4"/>
                <a:stretch>
                  <a:fillRect l="-166"/>
                </a:stretch>
              </a:blipFill>
              <a:ln/>
            </p:spPr>
            <p:txBody>
              <a:bodyPr/>
              <a:lstStyle/>
              <a:p>
                <a:r>
                  <a:rPr lang="en-SG">
                    <a:noFill/>
                  </a:rPr>
                  <a:t> </a:t>
                </a:r>
              </a:p>
            </p:txBody>
          </p:sp>
        </mc:Fallback>
      </mc:AlternateContent>
      <p:sp>
        <p:nvSpPr>
          <p:cNvPr id="24" name="Text 6">
            <a:extLst>
              <a:ext uri="{FF2B5EF4-FFF2-40B4-BE49-F238E27FC236}">
                <a16:creationId xmlns:a16="http://schemas.microsoft.com/office/drawing/2014/main" id="{642D4C94-14C7-2FE1-6C90-4E9CE44EE507}"/>
              </a:ext>
            </a:extLst>
          </p:cNvPr>
          <p:cNvSpPr/>
          <p:nvPr/>
        </p:nvSpPr>
        <p:spPr>
          <a:xfrm>
            <a:off x="670560" y="5630641"/>
            <a:ext cx="11291752" cy="900690"/>
          </a:xfrm>
          <a:prstGeom prst="rect">
            <a:avLst/>
          </a:prstGeom>
          <a:noFill/>
          <a:ln/>
        </p:spPr>
        <p:txBody>
          <a:bodyPr wrap="square" rtlCol="0" anchor="ctr"/>
          <a:lstStyle/>
          <a:p>
            <a:pPr>
              <a:lnSpc>
                <a:spcPct val="125000"/>
              </a:lnSpc>
            </a:pPr>
            <a:r>
              <a:rPr lang="en-US" sz="1400" b="1" dirty="0">
                <a:latin typeface="Calibri" pitchFamily="34" charset="0"/>
                <a:ea typeface="Calibri" pitchFamily="34" charset="-122"/>
                <a:cs typeface="Calibri" pitchFamily="34" charset="-120"/>
              </a:rPr>
              <a:t>Findings: </a:t>
            </a:r>
            <a:r>
              <a:rPr lang="en-SG" sz="1400" dirty="0"/>
              <a:t>FAH increases raise spending 0.97% for below-poverty households versus 0.54% for above-poverty households. FAFH show no significant effect for either group. Under one-way FE, FAFH turns positive (significant) for below-poverty households and FAH’s effect for below-poverty households becomes negative (marginally significant). </a:t>
            </a:r>
            <a:r>
              <a:rPr lang="en-SG" sz="1400" b="1" dirty="0"/>
              <a:t>The 1.8× regressivity gap itself stays stable and remains statistically significant in both specifications, </a:t>
            </a:r>
            <a:r>
              <a:rPr lang="en-SG" sz="1400" dirty="0"/>
              <a:t>confirming TWFE, as the preferred model.</a:t>
            </a:r>
            <a:endParaRPr lang="en-US" sz="1400" b="1" dirty="0"/>
          </a:p>
          <a:p>
            <a:pPr>
              <a:lnSpc>
                <a:spcPct val="125000"/>
              </a:lnSpc>
            </a:pPr>
            <a:r>
              <a:rPr lang="en-SG" sz="1400" dirty="0"/>
              <a:t> </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C252A"/>
        </a:solidFill>
        <a:effectLst/>
      </p:bgPr>
    </p:bg>
    <p:spTree>
      <p:nvGrpSpPr>
        <p:cNvPr id="1" name=""/>
        <p:cNvGrpSpPr/>
        <p:nvPr/>
      </p:nvGrpSpPr>
      <p:grpSpPr>
        <a:xfrm>
          <a:off x="0" y="0"/>
          <a:ext cx="0" cy="0"/>
          <a:chOff x="0" y="0"/>
          <a:chExt cx="0" cy="0"/>
        </a:xfrm>
      </p:grpSpPr>
      <p:sp>
        <p:nvSpPr>
          <p:cNvPr id="2" name="Text 0"/>
          <p:cNvSpPr/>
          <p:nvPr/>
        </p:nvSpPr>
        <p:spPr>
          <a:xfrm>
            <a:off x="640080" y="502920"/>
            <a:ext cx="10881360" cy="64008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Implications &amp; Policy Takeaways</a:t>
            </a:r>
            <a:endParaRPr lang="en-US" sz="3200" dirty="0"/>
          </a:p>
        </p:txBody>
      </p:sp>
      <p:sp>
        <p:nvSpPr>
          <p:cNvPr id="3" name="Text 1"/>
          <p:cNvSpPr/>
          <p:nvPr/>
        </p:nvSpPr>
        <p:spPr>
          <a:xfrm>
            <a:off x="640080" y="1097280"/>
            <a:ext cx="10881360" cy="365760"/>
          </a:xfrm>
          <a:prstGeom prst="rect">
            <a:avLst/>
          </a:prstGeom>
          <a:noFill/>
          <a:ln/>
        </p:spPr>
        <p:txBody>
          <a:bodyPr wrap="square" rtlCol="0" anchor="ctr"/>
          <a:lstStyle/>
          <a:p>
            <a:pPr marL="0" indent="0">
              <a:buNone/>
            </a:pPr>
            <a:r>
              <a:rPr lang="en-US" sz="1400" i="1" dirty="0">
                <a:solidFill>
                  <a:srgbClr val="9FD8D1"/>
                </a:solidFill>
                <a:latin typeface="Calibri" pitchFamily="34" charset="0"/>
                <a:ea typeface="Calibri" pitchFamily="34" charset="-122"/>
                <a:cs typeface="Calibri" pitchFamily="34" charset="-120"/>
              </a:rPr>
              <a:t>Translating a regressivity finding into where policy attention belongs</a:t>
            </a:r>
            <a:endParaRPr lang="en-US" sz="1400" dirty="0"/>
          </a:p>
        </p:txBody>
      </p:sp>
      <p:sp>
        <p:nvSpPr>
          <p:cNvPr id="4" name="Shape 2"/>
          <p:cNvSpPr/>
          <p:nvPr/>
        </p:nvSpPr>
        <p:spPr>
          <a:xfrm>
            <a:off x="640080" y="1828800"/>
            <a:ext cx="5074920" cy="3657600"/>
          </a:xfrm>
          <a:prstGeom prst="roundRect">
            <a:avLst>
              <a:gd name="adj" fmla="val 2000"/>
            </a:avLst>
          </a:prstGeom>
          <a:solidFill>
            <a:srgbClr val="0F3B41"/>
          </a:solidFill>
          <a:ln/>
        </p:spPr>
        <p:txBody>
          <a:bodyPr/>
          <a:lstStyle/>
          <a:p>
            <a:endParaRPr lang="en-SG"/>
          </a:p>
        </p:txBody>
      </p:sp>
      <p:sp>
        <p:nvSpPr>
          <p:cNvPr id="5" name="Text 3"/>
          <p:cNvSpPr/>
          <p:nvPr/>
        </p:nvSpPr>
        <p:spPr>
          <a:xfrm>
            <a:off x="960120" y="2103120"/>
            <a:ext cx="1097280" cy="731520"/>
          </a:xfrm>
          <a:prstGeom prst="rect">
            <a:avLst/>
          </a:prstGeom>
          <a:noFill/>
          <a:ln/>
        </p:spPr>
        <p:txBody>
          <a:bodyPr wrap="square" rtlCol="0" anchor="ctr"/>
          <a:lstStyle/>
          <a:p>
            <a:pPr marL="0" indent="0">
              <a:buNone/>
            </a:pPr>
            <a:r>
              <a:rPr lang="en-US" sz="3400" b="1" dirty="0">
                <a:solidFill>
                  <a:srgbClr val="02C39A"/>
                </a:solidFill>
                <a:latin typeface="Cambria" pitchFamily="34" charset="0"/>
                <a:ea typeface="Cambria" pitchFamily="34" charset="-122"/>
                <a:cs typeface="Cambria" pitchFamily="34" charset="-120"/>
              </a:rPr>
              <a:t>01</a:t>
            </a:r>
            <a:endParaRPr lang="en-US" sz="3400" dirty="0"/>
          </a:p>
        </p:txBody>
      </p:sp>
      <p:sp>
        <p:nvSpPr>
          <p:cNvPr id="6" name="Text 4"/>
          <p:cNvSpPr/>
          <p:nvPr/>
        </p:nvSpPr>
        <p:spPr>
          <a:xfrm>
            <a:off x="960120" y="2834640"/>
            <a:ext cx="4434840" cy="777240"/>
          </a:xfrm>
          <a:prstGeom prst="rect">
            <a:avLst/>
          </a:prstGeom>
          <a:noFill/>
          <a:ln/>
        </p:spPr>
        <p:txBody>
          <a:bodyPr wrap="square" rtlCol="0" anchor="ctr"/>
          <a:lstStyle/>
          <a:p>
            <a:pPr marL="0" indent="0">
              <a:lnSpc>
                <a:spcPct val="115000"/>
              </a:lnSpc>
              <a:buNone/>
            </a:pPr>
            <a:r>
              <a:rPr lang="en-US" sz="1600" b="1" dirty="0">
                <a:solidFill>
                  <a:srgbClr val="FFFFFF"/>
                </a:solidFill>
                <a:latin typeface="Calibri" pitchFamily="34" charset="0"/>
                <a:ea typeface="Calibri" pitchFamily="34" charset="-122"/>
                <a:cs typeface="Calibri" pitchFamily="34" charset="-120"/>
              </a:rPr>
              <a:t>Grocery taxes are regressive; restaurant taxes are neutral</a:t>
            </a:r>
            <a:endParaRPr lang="en-US" sz="1600" dirty="0"/>
          </a:p>
        </p:txBody>
      </p:sp>
      <p:sp>
        <p:nvSpPr>
          <p:cNvPr id="7" name="Text 5"/>
          <p:cNvSpPr/>
          <p:nvPr/>
        </p:nvSpPr>
        <p:spPr>
          <a:xfrm>
            <a:off x="960120" y="3657600"/>
            <a:ext cx="4434840" cy="1874520"/>
          </a:xfrm>
          <a:prstGeom prst="rect">
            <a:avLst/>
          </a:prstGeom>
          <a:noFill/>
          <a:ln/>
        </p:spPr>
        <p:txBody>
          <a:bodyPr wrap="square" rtlCol="0" anchor="ctr"/>
          <a:lstStyle/>
          <a:p>
            <a:pPr marL="0" indent="0">
              <a:lnSpc>
                <a:spcPct val="130000"/>
              </a:lnSpc>
              <a:buNone/>
            </a:pPr>
            <a:r>
              <a:rPr lang="en-US" sz="1300" dirty="0">
                <a:solidFill>
                  <a:srgbClr val="CFE9E5"/>
                </a:solidFill>
                <a:latin typeface="Calibri" pitchFamily="34" charset="0"/>
                <a:ea typeface="Calibri" pitchFamily="34" charset="-122"/>
                <a:cs typeface="Calibri" pitchFamily="34" charset="-120"/>
              </a:rPr>
              <a:t>Poorer households are more sensitive to grocery (FAH) tax changes and bear a heavier burden. Restaurant (FAFH) taxes show no comparable effect for any income group.</a:t>
            </a:r>
            <a:endParaRPr lang="en-US" sz="1300" dirty="0"/>
          </a:p>
        </p:txBody>
      </p:sp>
      <p:sp>
        <p:nvSpPr>
          <p:cNvPr id="8" name="Shape 6"/>
          <p:cNvSpPr/>
          <p:nvPr/>
        </p:nvSpPr>
        <p:spPr>
          <a:xfrm>
            <a:off x="6035040" y="1828800"/>
            <a:ext cx="5074920" cy="3657600"/>
          </a:xfrm>
          <a:prstGeom prst="roundRect">
            <a:avLst>
              <a:gd name="adj" fmla="val 2000"/>
            </a:avLst>
          </a:prstGeom>
          <a:solidFill>
            <a:srgbClr val="0F3B41"/>
          </a:solidFill>
          <a:ln/>
        </p:spPr>
        <p:txBody>
          <a:bodyPr/>
          <a:lstStyle/>
          <a:p>
            <a:endParaRPr lang="en-SG"/>
          </a:p>
        </p:txBody>
      </p:sp>
      <p:sp>
        <p:nvSpPr>
          <p:cNvPr id="9" name="Text 7"/>
          <p:cNvSpPr/>
          <p:nvPr/>
        </p:nvSpPr>
        <p:spPr>
          <a:xfrm>
            <a:off x="6355080" y="2103120"/>
            <a:ext cx="1097280" cy="731520"/>
          </a:xfrm>
          <a:prstGeom prst="rect">
            <a:avLst/>
          </a:prstGeom>
          <a:noFill/>
          <a:ln/>
        </p:spPr>
        <p:txBody>
          <a:bodyPr wrap="square" rtlCol="0" anchor="ctr"/>
          <a:lstStyle/>
          <a:p>
            <a:pPr marL="0" indent="0">
              <a:buNone/>
            </a:pPr>
            <a:r>
              <a:rPr lang="en-US" sz="3400" b="1" dirty="0">
                <a:solidFill>
                  <a:srgbClr val="02C39A"/>
                </a:solidFill>
                <a:latin typeface="Cambria" pitchFamily="34" charset="0"/>
                <a:ea typeface="Cambria" pitchFamily="34" charset="-122"/>
                <a:cs typeface="Cambria" pitchFamily="34" charset="-120"/>
              </a:rPr>
              <a:t>02</a:t>
            </a:r>
            <a:endParaRPr lang="en-US" sz="3400" dirty="0"/>
          </a:p>
        </p:txBody>
      </p:sp>
      <p:sp>
        <p:nvSpPr>
          <p:cNvPr id="10" name="Text 8"/>
          <p:cNvSpPr/>
          <p:nvPr/>
        </p:nvSpPr>
        <p:spPr>
          <a:xfrm>
            <a:off x="6355080" y="2834640"/>
            <a:ext cx="4434840" cy="777240"/>
          </a:xfrm>
          <a:prstGeom prst="rect">
            <a:avLst/>
          </a:prstGeom>
          <a:noFill/>
          <a:ln/>
        </p:spPr>
        <p:txBody>
          <a:bodyPr wrap="square" rtlCol="0" anchor="ctr"/>
          <a:lstStyle/>
          <a:p>
            <a:pPr marL="0" indent="0">
              <a:lnSpc>
                <a:spcPct val="115000"/>
              </a:lnSpc>
              <a:buNone/>
            </a:pPr>
            <a:r>
              <a:rPr lang="en-US" sz="1600" b="1" dirty="0">
                <a:solidFill>
                  <a:srgbClr val="FFFFFF"/>
                </a:solidFill>
                <a:latin typeface="Calibri" pitchFamily="34" charset="0"/>
                <a:ea typeface="Calibri" pitchFamily="34" charset="-122"/>
                <a:cs typeface="Calibri" pitchFamily="34" charset="-120"/>
              </a:rPr>
              <a:t>Focus policy attention on grocery taxation</a:t>
            </a:r>
            <a:endParaRPr lang="en-US" sz="1600" dirty="0"/>
          </a:p>
        </p:txBody>
      </p:sp>
      <p:sp>
        <p:nvSpPr>
          <p:cNvPr id="11" name="Text 9"/>
          <p:cNvSpPr/>
          <p:nvPr/>
        </p:nvSpPr>
        <p:spPr>
          <a:xfrm>
            <a:off x="6165669" y="3566160"/>
            <a:ext cx="4859381" cy="1965960"/>
          </a:xfrm>
          <a:prstGeom prst="rect">
            <a:avLst/>
          </a:prstGeom>
          <a:noFill/>
          <a:ln/>
        </p:spPr>
        <p:txBody>
          <a:bodyPr wrap="square" rtlCol="0" anchor="ctr"/>
          <a:lstStyle/>
          <a:p>
            <a:pPr>
              <a:lnSpc>
                <a:spcPct val="130000"/>
              </a:lnSpc>
            </a:pPr>
            <a:r>
              <a:rPr lang="en-US" sz="1300" dirty="0">
                <a:solidFill>
                  <a:srgbClr val="CFE9E5"/>
                </a:solidFill>
                <a:latin typeface="Calibri" pitchFamily="34" charset="0"/>
                <a:ea typeface="Calibri" pitchFamily="34" charset="-122"/>
                <a:cs typeface="Calibri" pitchFamily="34" charset="-120"/>
              </a:rPr>
              <a:t>Policy debates should prioritize FAH tax design over FAFH. A targeted rebate (tax credit, direct payment, or benefit program) puts relief directly into the hands of below-poverty households (</a:t>
            </a:r>
            <a:r>
              <a:rPr lang="en-US" sz="1400" dirty="0">
                <a:solidFill>
                  <a:srgbClr val="CFE9E5"/>
                </a:solidFill>
                <a:latin typeface="Calibri" pitchFamily="34" charset="0"/>
                <a:ea typeface="Calibri" pitchFamily="34" charset="-122"/>
                <a:cs typeface="Calibri" pitchFamily="34" charset="-120"/>
              </a:rPr>
              <a:t>71,545 households - 25.9% of the sample)</a:t>
            </a:r>
            <a:r>
              <a:rPr lang="en-US" sz="1300" dirty="0">
                <a:solidFill>
                  <a:srgbClr val="CFE9E5"/>
                </a:solidFill>
                <a:latin typeface="Calibri" pitchFamily="34" charset="0"/>
                <a:ea typeface="Calibri" pitchFamily="34" charset="-122"/>
                <a:cs typeface="Calibri" pitchFamily="34" charset="-120"/>
              </a:rPr>
              <a:t>, closing the 1.8× burden gap without spreading limited resources to households who aren't disproportionately affected</a:t>
            </a:r>
            <a:endParaRPr lang="en-US" sz="1300" dirty="0"/>
          </a:p>
        </p:txBody>
      </p:sp>
      <p:sp>
        <p:nvSpPr>
          <p:cNvPr id="14" name="Text 12"/>
          <p:cNvSpPr/>
          <p:nvPr/>
        </p:nvSpPr>
        <p:spPr>
          <a:xfrm>
            <a:off x="1005840" y="6217920"/>
            <a:ext cx="10515600" cy="365760"/>
          </a:xfrm>
          <a:prstGeom prst="rect">
            <a:avLst/>
          </a:prstGeom>
          <a:noFill/>
          <a:ln/>
        </p:spPr>
        <p:txBody>
          <a:bodyPr wrap="square" rtlCol="0" anchor="ctr"/>
          <a:lstStyle/>
          <a:p>
            <a:pPr marL="0" indent="0">
              <a:lnSpc>
                <a:spcPct val="115000"/>
              </a:lnSpc>
              <a:buNone/>
            </a:pPr>
            <a:r>
              <a:rPr lang="en-US" sz="1000" i="1" dirty="0">
                <a:solidFill>
                  <a:srgbClr val="5E938C"/>
                </a:solidFill>
                <a:latin typeface="Calibri" pitchFamily="34" charset="0"/>
                <a:ea typeface="Calibri" pitchFamily="34" charset="-122"/>
                <a:cs typeface="Calibri" pitchFamily="34" charset="-120"/>
              </a:rPr>
              <a:t>Note: results come from a fixed-effects panel design, which controls for state and year differences but does not establish causality — tax changes may correlate with other unobserved state-level shifts.</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478</TotalTime>
  <Words>587</Words>
  <Application>Microsoft Office PowerPoint</Application>
  <PresentationFormat>Widescreen</PresentationFormat>
  <Paragraphs>41</Paragraphs>
  <Slides>4</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Arial</vt:lpstr>
      <vt:lpstr>Calibri</vt:lpstr>
      <vt:lpstr>Cambria</vt:lpstr>
      <vt:lpstr>Cambria Math</vt:lpstr>
      <vt:lpstr>Office Theme</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smitha m</cp:lastModifiedBy>
  <cp:revision>78</cp:revision>
  <dcterms:created xsi:type="dcterms:W3CDTF">2026-08-09T07:10:09Z</dcterms:created>
  <dcterms:modified xsi:type="dcterms:W3CDTF">2026-08-09T15:13:10Z</dcterms:modified>
</cp:coreProperties>
</file>