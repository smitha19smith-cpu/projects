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5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12648" y="2286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NON-TEACHING HOURS &amp; TEACHER WORKLOAD STRESS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94944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EVIDENCE FROM TALIS 2024 (SINGAPORE)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Motivation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TALIS 2024 is the first wave to collect a fully disaggregated breakdown of non-teaching hours (planning, marking, admin, CCA, and seven other tasks) alongside a validated workload-stress scale. Most prior teacher-stress research relies on total working hours or a single aggregate workload measure, which cannot say which tasks actually drive stress. This study uses Singapore's TALIS 2024 teacher sample to test whether specific non-teaching tasks are linearly or non-linearly associated with workload stress.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040880" y="3017520"/>
            <a:ext cx="2331720" cy="1234440"/>
          </a:xfrm>
          <a:prstGeom prst="rect">
            <a:avLst/>
          </a:prstGeom>
          <a:solidFill>
            <a:srgbClr val="0A3E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40880" y="31272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2,137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3703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Sample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(Observed Stress, Teachers)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555480" y="3017520"/>
            <a:ext cx="2331720" cy="1234440"/>
          </a:xfrm>
          <a:prstGeom prst="rect">
            <a:avLst/>
          </a:prstGeom>
          <a:solidFill>
            <a:srgbClr val="0A3E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555480" y="31272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9646920" y="3703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Schools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Teacher-level  •  Cross-sectional design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TALIS 2024 Teacher Questionnaire (OECD)  •  Singapore Sub-sample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1430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examine whether hours spent on specific non-teaching tasks — lesson planning, marking, general administration, CCA/extracurricular supervision, teamwork, and others — are associated with self-reported workload stress among Singapore teachers, using TALIS 2024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864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test whether these associations are linear, or whether they show non-linear patterns (diminishing or plateauing effects at higher hours) using quadratic and piecewise (hinge/spline) specifications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106424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3891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survey-weighted (TALIS teacher final weight, TCHWGT) with Fay's balanced repeated replication (ρ = 0.5, 100 replicate weights) to reflect TALIS's complex multi-stage school sample. Missing data was addressed with multiple imputation (MICE, m = 20–42 datasets pooled via Rubin's rules); a logistic balance check on rotation-module receipt confirmed missingness is not completely at random, supporting the use of MICE over complete-case analysis.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669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TALIS 2024 is a single-wave, cross-sectional teacher survey — models are estimated at one point in time (no state/year fixed effects).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+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440680" cy="3246120"/>
          </a:xfrm>
          <a:prstGeom prst="rect">
            <a:avLst/>
          </a:prstGeom>
          <a:solidFill>
            <a:srgbClr val="0F3B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Linear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Hours spent on each non-teaching task are linearly associated with workload stress, controlling for gender, qualification, employment status, multi-school status, collaborative culture, peer support, and experience.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Marking/correcting hours (+0.085, p&lt;0.001) and “other tasks” hours (+0.035, p=0.001) are positively associated with stress. Teamwork/collaboration hours are negatively associated (−0.078, p=0.002) — more time working with colleagues is linked to lower stress. Collaborative school culture (−0.55, p&lt;0.001) and 20+ years' experience (−0.52, p&lt;0.001) are the strongest stress-reducing factors. Planning, admin, counselling, CCA, professional development, and school-management hours are not significant on their own.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051560"/>
            <a:ext cx="5440680" cy="5120640"/>
          </a:xfrm>
          <a:prstGeom prst="rect">
            <a:avLst/>
          </a:prstGeom>
          <a:solidFill>
            <a:srgbClr val="0F3B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188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Quadratic &amp; Piecewise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60020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(non-linearity): The relationship between task hours and stress is not linear — it shows diminishing or plateauing effects once hours pass a threshold, rather than rising at a constant rate.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286000"/>
            <a:ext cx="49834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hours show a significant inverted curve (linear term +0.23, squared term −0.010, both p&lt;0.001): stress rises fastest at low-to-moderate marking hours and flattens out beyond that. A piecewise (hinge) model confirms this — the slope for marking drops from +0.64 below the estimated knot to about +0.06 after it. General administration shows the same plateau pattern. CCA hours show no significant curvature. An ordered-probit robustness check (stress in quartiles) and an independently-run Python MICE (m=42) pipeline reproduce the same pattern for marking, teamwork, collaborative culture, and senior experience.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440680" cy="1691640"/>
          </a:xfrm>
          <a:prstGeom prst="rect">
            <a:avLst/>
          </a:prstGeom>
          <a:solidFill>
            <a:srgbClr val="0A3E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617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9560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imputation pipelines (R MICE/PMM, m=20; Python IterativeImputer, m=42 via Von Hippel's rule) and a rotation-module balance check (LR p=0.0002) both point to the same conclusion: missingness is not completely at random, so pooling across multiply-imputed, survey-weighted models is the credible approach here — not complete-case OLS.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Implications &amp; Policy Takeaways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a non-linear workload finding into where policy attention belongs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606040"/>
          </a:xfrm>
          <a:prstGeom prst="rect">
            <a:avLst/>
          </a:prstGeom>
          <a:solidFill>
            <a:srgbClr val="0F3B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and admin hours matter most — but their harm plateaus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marking/correcting and general-admin load will do the most to lower stress for teachers currently in the low-to-moderate hours range, where the marginal effect is steepest. Beyond an estimated threshold, additional hours add comparatively little further stress — so targeting relief at teachers below that threshold is likely more cost-effective than an across-the-board cut.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40680" cy="2606040"/>
          </a:xfrm>
          <a:prstGeom prst="rect">
            <a:avLst/>
          </a:prstGeom>
          <a:solidFill>
            <a:srgbClr val="0F3B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05740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lowers stress — invest in peer structures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65176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hours spent on teamwork/dialogue with colleagues, and a stronger collaborative school culture, are both associated with meaningfully lower workload stress. Structures that build peer support (co-planning time, mentoring, collaborative culture) may buffer workload strain even without reducing task hours directly. Senior teachers (20+ years) also report systematically lower stress, controlling for hours.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64240" cy="1874520"/>
          </a:xfrm>
          <a:prstGeom prst="rect">
            <a:avLst/>
          </a:prstGeom>
          <a:solidFill>
            <a:srgbClr val="0A3E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3708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731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intervention to the task — not a blanket reduction in hours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most task categories (planning, counselling, CCA, professional development, school management) show no significant link to stress, generic “reduce all non-teaching hours” policies would spread limited resources across tasks that are not disproportionately driving stress. The evidence instead points to two targeted levers: capping/redistributing marking and admin load below the plateau threshold, and strengthening collaborative structures among colleagues.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55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results come from a cross-sectional survey design, which does not establish causality — associations may reflect reverse causation (more-stressed teachers report more hours on some tasks) or unobserved differences between teachers and schools.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2026-09-03T08:14:16Z</dcterms:created>
  <dcterms:modified xsi:type="dcterms:W3CDTF">2026-09-03T08:14:16Z</dcterms:modified>
</cp:coreProperties>
</file>