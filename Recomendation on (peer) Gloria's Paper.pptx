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8" r:id="rId2"/>
    <p:sldId id="260" r:id="rId3"/>
    <p:sldId id="261" r:id="rId4"/>
    <p:sldId id="262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DD0006-4CF1-AE0E-990F-8CF9FB08F1E4}" v="12" dt="2026-03-17T02:04:22.6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>
        <p:scale>
          <a:sx n="87" d="100"/>
          <a:sy n="87" d="100"/>
        </p:scale>
        <p:origin x="60" y="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3131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3994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891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560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150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0555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8936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3981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691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734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10948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64330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76665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72319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48516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98823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0171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3/18/2026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3958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3B206-D3E1-AAF3-3996-0C8DD0CB9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-130628"/>
            <a:ext cx="10018713" cy="1752599"/>
          </a:xfrm>
        </p:spPr>
        <p:txBody>
          <a:bodyPr>
            <a:normAutofit/>
          </a:bodyPr>
          <a:lstStyle/>
          <a:p>
            <a:r>
              <a:rPr lang="en-US" dirty="0"/>
              <a:t>SUMMARY OF PAPER</a:t>
            </a:r>
            <a:br>
              <a:rPr lang="en-US" dirty="0"/>
            </a:br>
            <a:r>
              <a:rPr lang="en-US" sz="2800" dirty="0">
                <a:ea typeface="+mj-lt"/>
                <a:cs typeface="+mj-lt"/>
              </a:rPr>
              <a:t>Do GST Increases Induce a Shift Toward Online Retail?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FB1E3D-323F-9640-B5F9-2BACDBB63B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20043" y="1621971"/>
                <a:ext cx="8944880" cy="4718958"/>
              </a:xfrm>
            </p:spPr>
            <p:txBody>
              <a:bodyPr>
                <a:normAutofit fontScale="92500"/>
              </a:bodyPr>
              <a:lstStyle/>
              <a:p>
                <a:pPr>
                  <a:lnSpc>
                    <a:spcPct val="170000"/>
                  </a:lnSpc>
                </a:pPr>
                <a:r>
                  <a:rPr lang="en-US" sz="1400" dirty="0"/>
                  <a:t>Monthly </a:t>
                </a:r>
                <a:r>
                  <a:rPr lang="en-US" sz="1400" dirty="0" err="1"/>
                  <a:t>SingStat</a:t>
                </a:r>
                <a:r>
                  <a:rPr lang="en-US" sz="1400" dirty="0"/>
                  <a:t> online retail data from Jan 2019 to Nov 2025 (249 observations)</a:t>
                </a:r>
              </a:p>
              <a:p>
                <a:pPr>
                  <a:lnSpc>
                    <a:spcPct val="170000"/>
                  </a:lnSpc>
                </a:pPr>
                <a:r>
                  <a:rPr lang="en-SG" sz="1400" dirty="0"/>
                  <a:t>TWFE Difference-in-differences model (</a:t>
                </a:r>
                <a:r>
                  <a:rPr lang="en-US" sz="1400" dirty="0"/>
                  <a:t>variation over time and across 3 product categories - Supermarkets and Hypermarkets, Computer and Telecommunications Equipment, and Furniture and Household)</a:t>
                </a:r>
                <a:endParaRPr lang="en-SG" sz="1400" dirty="0"/>
              </a:p>
              <a:p>
                <a:pPr>
                  <a:lnSpc>
                    <a:spcPct val="170000"/>
                  </a:lnSpc>
                </a:pPr>
                <a:r>
                  <a:rPr lang="en-SG" sz="1400" dirty="0"/>
                  <a:t>Comparison between discretionary (treated) and essential categories (untreated), before and after the rise in GST (from </a:t>
                </a:r>
                <a:r>
                  <a:rPr lang="en-US" sz="1400" dirty="0"/>
                  <a:t>7% to 8% in Jan 2023, and then to 9% in Jan 2024)</a:t>
                </a:r>
                <a:endParaRPr lang="en-SG" sz="1400" dirty="0"/>
              </a:p>
              <a:p>
                <a:pPr>
                  <a:lnSpc>
                    <a:spcPct val="170000"/>
                  </a:lnSpc>
                </a:pPr>
                <a:r>
                  <a:rPr lang="en-US" sz="1400" dirty="0"/>
                  <a:t>After the GST increase, the online retail share of the discretionary category rose by 5.22% relative to essential categories</a:t>
                </a:r>
                <a:endParaRPr lang="en-SG" sz="1400" dirty="0"/>
              </a:p>
              <a:p>
                <a:pPr>
                  <a:lnSpc>
                    <a:spcPct val="170000"/>
                  </a:lnSpc>
                </a:pPr>
                <a14:m>
                  <m:oMath xmlns:m="http://schemas.openxmlformats.org/officeDocument/2006/math">
                    <m:r>
                      <a:rPr lang="en-SG" sz="1400" i="1">
                        <a:latin typeface="Cambria Math" panose="02040503050406030204" pitchFamily="18" charset="0"/>
                      </a:rPr>
                      <m:t>𝑂𝑛𝑙𝑖𝑛𝑒𝑆</m:t>
                    </m:r>
                    <m:r>
                      <a:rPr lang="en-SG" sz="1400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en-SG" sz="1400" i="1">
                        <a:latin typeface="Cambria Math" panose="02040503050406030204" pitchFamily="18" charset="0"/>
                      </a:rPr>
                      <m:t>𝑎𝑟</m:t>
                    </m:r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𝑐𝑡</m:t>
                        </m:r>
                      </m:sub>
                    </m:sSub>
                    <m:r>
                      <a:rPr lang="ar-AE" sz="14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4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ar-AE" sz="1400" i="1">
                        <a:latin typeface="Cambria Math" panose="02040503050406030204" pitchFamily="18" charset="0"/>
                      </a:rPr>
                      <m:t>𝐷𝑖𝑠𝑐𝑟𝑒𝑡𝑖𝑜𝑛𝑎𝑟</m:t>
                    </m:r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ar-AE" sz="1400">
                        <a:latin typeface="Cambria Math" panose="02040503050406030204" pitchFamily="18" charset="0"/>
                      </a:rPr>
                      <m:t>×</m:t>
                    </m:r>
                    <m:r>
                      <a:rPr lang="ar-AE" sz="1400" i="1">
                        <a:latin typeface="Cambria Math" panose="02040503050406030204" pitchFamily="18" charset="0"/>
                      </a:rPr>
                      <m:t>𝑃𝑜𝑠</m:t>
                    </m:r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ar-AE" sz="140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ar-AE" sz="140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ar-AE" sz="140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𝑐𝑡</m:t>
                        </m:r>
                      </m:sub>
                    </m:sSub>
                  </m:oMath>
                </a14:m>
                <a:endParaRPr lang="en-SG" sz="1400" dirty="0"/>
              </a:p>
              <a:p>
                <a:pPr>
                  <a:lnSpc>
                    <a:spcPct val="170000"/>
                  </a:lnSpc>
                </a:pPr>
                <a:r>
                  <a:rPr lang="en-SG" sz="1400" dirty="0"/>
                  <a:t>Assumptions made in the study -  timing is exogeneous, GST is applicable to products from both categories, in both offline and online market, different share volumes across retail categories</a:t>
                </a:r>
              </a:p>
              <a:p>
                <a:pPr marL="0" indent="0">
                  <a:lnSpc>
                    <a:spcPct val="170000"/>
                  </a:lnSpc>
                  <a:buNone/>
                </a:pPr>
                <a:r>
                  <a:rPr lang="en-SG" sz="1400" dirty="0"/>
                  <a:t> (</a:t>
                </a:r>
                <a:r>
                  <a:rPr lang="ar-AE" sz="1400" dirty="0"/>
                  <a:t> </a:t>
                </a:r>
                <a:r>
                  <a:rPr lang="en-SG" sz="1400" dirty="0"/>
                  <a:t>event studies to understand dynamics in 2023 and 2024, category/month fixed effects, heteroskedasticity-robust SE, permutation tests as a robustness check)</a:t>
                </a:r>
                <a:endParaRPr lang="en-US" sz="1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FB1E3D-323F-9640-B5F9-2BACDBB63B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20043" y="1621971"/>
                <a:ext cx="8944880" cy="4718958"/>
              </a:xfrm>
              <a:blipFill>
                <a:blip r:embed="rId2"/>
                <a:stretch>
                  <a:fillRect l="-47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9722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CD8653-F0D7-D67E-B365-CE02337A6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0164" y="404325"/>
            <a:ext cx="4667374" cy="5648131"/>
          </a:xfrm>
        </p:spPr>
        <p:txBody>
          <a:bodyPr>
            <a:normAutofit fontScale="55000" lnSpcReduction="20000"/>
          </a:bodyPr>
          <a:lstStyle/>
          <a:p>
            <a:pPr marL="0" indent="0" algn="ctr">
              <a:buNone/>
            </a:pPr>
            <a:r>
              <a:rPr lang="en-SG" sz="3300" b="1" dirty="0"/>
              <a:t>STRENGTHS </a:t>
            </a:r>
          </a:p>
          <a:p>
            <a:pPr marL="0" indent="0" algn="ctr">
              <a:buNone/>
            </a:pPr>
            <a:endParaRPr lang="en-SG" sz="3300" b="1" dirty="0"/>
          </a:p>
          <a:p>
            <a:pPr>
              <a:lnSpc>
                <a:spcPct val="170000"/>
              </a:lnSpc>
            </a:pPr>
            <a:r>
              <a:rPr lang="en-SG" sz="2600" dirty="0"/>
              <a:t>There is clear explanation to every concept the author has used. Have given honest explanation on limitations of the study. </a:t>
            </a:r>
          </a:p>
          <a:p>
            <a:pPr>
              <a:lnSpc>
                <a:spcPct val="170000"/>
              </a:lnSpc>
            </a:pPr>
            <a:r>
              <a:rPr lang="en-SG" sz="2600" dirty="0"/>
              <a:t>The author has economically interpreted the results </a:t>
            </a:r>
          </a:p>
          <a:p>
            <a:pPr>
              <a:lnSpc>
                <a:spcPct val="170000"/>
              </a:lnSpc>
            </a:pPr>
            <a:r>
              <a:rPr lang="en-US" sz="2600" dirty="0"/>
              <a:t>The event study is estimated separately for the January 2023 and January 2024 GST increases. </a:t>
            </a:r>
          </a:p>
          <a:p>
            <a:pPr>
              <a:lnSpc>
                <a:spcPct val="170000"/>
              </a:lnSpc>
            </a:pPr>
            <a:r>
              <a:rPr lang="en-US" sz="2600" dirty="0"/>
              <a:t>The sample is restricted to a window of six months before and six months after the policy, to focus on short-term adjustments</a:t>
            </a:r>
            <a:endParaRPr lang="en-SG" sz="2600" dirty="0"/>
          </a:p>
          <a:p>
            <a:pPr>
              <a:lnSpc>
                <a:spcPct val="170000"/>
              </a:lnSpc>
            </a:pPr>
            <a:r>
              <a:rPr lang="en-SG" sz="2600" dirty="0"/>
              <a:t>Rigorous </a:t>
            </a:r>
            <a:r>
              <a:rPr lang="en-SG" sz="2600" dirty="0" err="1"/>
              <a:t>DiD</a:t>
            </a:r>
            <a:r>
              <a:rPr lang="en-SG" sz="2600" dirty="0"/>
              <a:t> with event studies, specified that it is not causal evidence</a:t>
            </a:r>
          </a:p>
          <a:p>
            <a:pPr>
              <a:lnSpc>
                <a:spcPct val="170000"/>
              </a:lnSpc>
            </a:pPr>
            <a:r>
              <a:rPr lang="en-US" sz="2600" dirty="0"/>
              <a:t>Heteroscedasticity robust standard errors rather than clustering by category</a:t>
            </a:r>
            <a:endParaRPr lang="en-SG" sz="26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4280B61-90B3-E09F-FB6F-39A9C91E256C}"/>
              </a:ext>
            </a:extLst>
          </p:cNvPr>
          <p:cNvSpPr txBox="1">
            <a:spLocks/>
          </p:cNvSpPr>
          <p:nvPr/>
        </p:nvSpPr>
        <p:spPr>
          <a:xfrm>
            <a:off x="7551577" y="273697"/>
            <a:ext cx="3706016" cy="5722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SG" sz="2100" b="1" dirty="0"/>
              <a:t>LIMITATIONS</a:t>
            </a:r>
          </a:p>
          <a:p>
            <a:pPr marL="0" indent="0" algn="ctr">
              <a:buNone/>
            </a:pPr>
            <a:endParaRPr lang="en-SG" sz="2100" b="1" dirty="0"/>
          </a:p>
          <a:p>
            <a:pPr>
              <a:lnSpc>
                <a:spcPct val="150000"/>
              </a:lnSpc>
            </a:pPr>
            <a:r>
              <a:rPr lang="en-SG" sz="1500" dirty="0"/>
              <a:t>Small cross-section (n=3 categories) limits clustering and power (permutation p=0.333)</a:t>
            </a:r>
          </a:p>
          <a:p>
            <a:pPr>
              <a:lnSpc>
                <a:spcPct val="150000"/>
              </a:lnSpc>
            </a:pPr>
            <a:r>
              <a:rPr lang="en-SG" sz="1500" dirty="0"/>
              <a:t>Data is a limitation </a:t>
            </a:r>
          </a:p>
          <a:p>
            <a:pPr>
              <a:lnSpc>
                <a:spcPct val="150000"/>
              </a:lnSpc>
            </a:pPr>
            <a:r>
              <a:rPr lang="en-US" sz="1500" dirty="0"/>
              <a:t>Uses category totals, not individual shopping data – can't see who made purchases or why online sales were high/low</a:t>
            </a:r>
          </a:p>
          <a:p>
            <a:pPr>
              <a:lnSpc>
                <a:spcPct val="150000"/>
              </a:lnSpc>
            </a:pPr>
            <a:r>
              <a:rPr lang="en-US" sz="1500" dirty="0"/>
              <a:t>COVID e-commerce boom + platform sales might explain the shift, not just GST</a:t>
            </a:r>
            <a:endParaRPr lang="en-SG" sz="1500" dirty="0"/>
          </a:p>
        </p:txBody>
      </p:sp>
    </p:spTree>
    <p:extLst>
      <p:ext uri="{BB962C8B-B14F-4D97-AF65-F5344CB8AC3E}">
        <p14:creationId xmlns:p14="http://schemas.microsoft.com/office/powerpoint/2010/main" val="1856248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97500-5675-4548-5775-679C6B779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50852" y="272878"/>
            <a:ext cx="10018713" cy="911016"/>
          </a:xfrm>
        </p:spPr>
        <p:txBody>
          <a:bodyPr/>
          <a:lstStyle/>
          <a:p>
            <a:r>
              <a:rPr lang="en-SG" dirty="0"/>
              <a:t>Improvements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6AD7A-F2E6-17E2-5078-464002C07D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4923" y="2160427"/>
            <a:ext cx="10018713" cy="3862873"/>
          </a:xfrm>
        </p:spPr>
        <p:txBody>
          <a:bodyPr>
            <a:normAutofit/>
          </a:bodyPr>
          <a:lstStyle/>
          <a:p>
            <a:r>
              <a:rPr lang="en-SG" sz="1600" dirty="0"/>
              <a:t>Formatting – times new roman, 12, justify the paragraphs, 1.5 line space, bold numbered headings </a:t>
            </a:r>
          </a:p>
          <a:p>
            <a:r>
              <a:rPr lang="en-SG" sz="1600" dirty="0"/>
              <a:t>A few sections in the paper – 1 paragraph has only 2-4 lines. Merge for better flow </a:t>
            </a:r>
          </a:p>
          <a:p>
            <a:r>
              <a:rPr lang="en-SG" sz="1600" dirty="0"/>
              <a:t>Few repetitions, can remove where unnecessary</a:t>
            </a:r>
          </a:p>
          <a:p>
            <a:r>
              <a:rPr lang="en-US" sz="1600" dirty="0"/>
              <a:t>Consolidate limitations into single final section post-results</a:t>
            </a:r>
          </a:p>
          <a:p>
            <a:r>
              <a:rPr lang="en-SG" sz="1600" dirty="0"/>
              <a:t>Add more categories for robust inference -clustered SE</a:t>
            </a:r>
          </a:p>
          <a:p>
            <a:r>
              <a:rPr lang="en-SG" sz="1600" dirty="0"/>
              <a:t>Include  </a:t>
            </a:r>
            <a:r>
              <a:rPr lang="en-SG" sz="1600" dirty="0" err="1"/>
              <a:t>DiD</a:t>
            </a:r>
            <a:r>
              <a:rPr lang="en-SG" sz="1600" dirty="0"/>
              <a:t> for 2023 and </a:t>
            </a:r>
            <a:r>
              <a:rPr lang="en-SG" sz="1600" dirty="0" err="1"/>
              <a:t>DiD</a:t>
            </a:r>
            <a:r>
              <a:rPr lang="en-SG" sz="1600" dirty="0"/>
              <a:t> for 2024 to make a comparison between the coefficients (</a:t>
            </a:r>
            <a:r>
              <a:rPr lang="en-US" sz="1600" dirty="0"/>
              <a:t>Does 2nd hike (2024) have larger effect than 1st (2023)?)</a:t>
            </a:r>
          </a:p>
          <a:p>
            <a:r>
              <a:rPr lang="en-US" sz="1600" dirty="0"/>
              <a:t>The author mentions on COVID but would be good to test fake treatment dates (ex:2021)</a:t>
            </a:r>
          </a:p>
          <a:p>
            <a:r>
              <a:rPr lang="en-US" sz="1600" dirty="0"/>
              <a:t>Have added visuals only to show parallel trends but can conduct F-test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SG" sz="1600" dirty="0"/>
          </a:p>
          <a:p>
            <a:endParaRPr lang="en-SG" sz="1600" dirty="0"/>
          </a:p>
        </p:txBody>
      </p:sp>
    </p:spTree>
    <p:extLst>
      <p:ext uri="{BB962C8B-B14F-4D97-AF65-F5344CB8AC3E}">
        <p14:creationId xmlns:p14="http://schemas.microsoft.com/office/powerpoint/2010/main" val="107533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A9457A9-C1BA-F8F4-D489-6FB87C2F9113}"/>
              </a:ext>
            </a:extLst>
          </p:cNvPr>
          <p:cNvSpPr txBox="1">
            <a:spLocks/>
          </p:cNvSpPr>
          <p:nvPr/>
        </p:nvSpPr>
        <p:spPr>
          <a:xfrm>
            <a:off x="1601711" y="947320"/>
            <a:ext cx="2626698" cy="911016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SG" dirty="0"/>
              <a:t>Question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E8DA30-44C5-0483-7EEA-E74C8930D87D}"/>
              </a:ext>
            </a:extLst>
          </p:cNvPr>
          <p:cNvSpPr txBox="1"/>
          <p:nvPr/>
        </p:nvSpPr>
        <p:spPr>
          <a:xfrm>
            <a:off x="1907249" y="2113044"/>
            <a:ext cx="9043649" cy="97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SG"/>
              <a:t>1. You </a:t>
            </a:r>
            <a:r>
              <a:rPr lang="en-SG" dirty="0"/>
              <a:t>have mentioned on parallel trends through a graph, and you cannot test it. Can you help me understand reasons behind it? There were no pre-trends in your graph</a:t>
            </a:r>
          </a:p>
        </p:txBody>
      </p:sp>
    </p:spTree>
    <p:extLst>
      <p:ext uri="{BB962C8B-B14F-4D97-AF65-F5344CB8AC3E}">
        <p14:creationId xmlns:p14="http://schemas.microsoft.com/office/powerpoint/2010/main" val="123594534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352</TotalTime>
  <Words>499</Words>
  <Application>Microsoft Office PowerPoint</Application>
  <PresentationFormat>Widescreen</PresentationFormat>
  <Paragraphs>35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Cambria Math</vt:lpstr>
      <vt:lpstr>Corbel</vt:lpstr>
      <vt:lpstr>Parallax</vt:lpstr>
      <vt:lpstr>SUMMARY OF PAPER Do GST Increases Induce a Shift Toward Online Retail?</vt:lpstr>
      <vt:lpstr>PowerPoint Presentation</vt:lpstr>
      <vt:lpstr>Improvements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MANJUNATH Smitha</cp:lastModifiedBy>
  <cp:revision>105</cp:revision>
  <dcterms:created xsi:type="dcterms:W3CDTF">2026-03-17T01:57:31Z</dcterms:created>
  <dcterms:modified xsi:type="dcterms:W3CDTF">2026-03-18T04:24:11Z</dcterms:modified>
</cp:coreProperties>
</file>