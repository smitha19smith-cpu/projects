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FR4jlxw9iylDcSRLROS6fpIT/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Cambria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Cambria"/>
              </a:rPr>
              <a:t>Respondent type (Q1)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</c:dPt>
          <c:dPt>
            <c:idx val="1"/>
            <c:bubble3D val="0"/>
            <c:spPr>
              <a:solidFill>
                <a:srgbClr val="E8833A"/>
              </a:solidFill>
              <a:effectLst/>
            </c:spPr>
          </c:dPt>
          <c:dPt>
            <c:idx val="2"/>
            <c:bubble3D val="0"/>
            <c:spPr>
              <a:solidFill>
                <a:srgbClr val="1B998B"/>
              </a:solidFill>
              <a:effectLst/>
            </c:spPr>
          </c:dPt>
          <c:cat>
            <c:strRef>
              <c:f>Sheet1!$A$2:$A$4</c:f>
              <c:strCache>
                <c:ptCount val="3"/>
                <c:pt idx="0">
                  <c:v>Student (51.6%)</c:v>
                </c:pt>
                <c:pt idx="1">
                  <c:v>Off-campus (33.3%)</c:v>
                </c:pt>
                <c:pt idx="2">
                  <c:v>Faculty (15.1%)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51.6</c:v>
                </c:pt>
                <c:pt idx="1">
                  <c:v>33.299999999999997</c:v>
                </c:pt>
                <c:pt idx="2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2-1A46-A326-7131F4BC9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first-visit reasons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421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Convenience</c:v>
                </c:pt>
                <c:pt idx="1">
                  <c:v>Price &amp; value</c:v>
                </c:pt>
                <c:pt idx="2">
                  <c:v>Food quality</c:v>
                </c:pt>
                <c:pt idx="3">
                  <c:v>Came w/ others</c:v>
                </c:pt>
                <c:pt idx="4">
                  <c:v>Familiar</c:v>
                </c:pt>
                <c:pt idx="5">
                  <c:v>Variety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54.7</c:v>
                </c:pt>
                <c:pt idx="1">
                  <c:v>20.100000000000001</c:v>
                </c:pt>
                <c:pt idx="2">
                  <c:v>8.8000000000000007</c:v>
                </c:pt>
                <c:pt idx="3">
                  <c:v>5.7</c:v>
                </c:pt>
                <c:pt idx="4">
                  <c:v>3.1</c:v>
                </c:pt>
                <c:pt idx="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A-0C46-A29D-3E2E0DB5AC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Pull — chose today (Q5)</c:v>
                </c:pt>
              </c:strCache>
            </c:strRef>
          </c:tx>
          <c:spPr>
            <a:solidFill>
              <a:srgbClr val="6E9BC4"/>
            </a:solidFill>
            <a:effectLst/>
          </c:spPr>
          <c:invertIfNegative val="0"/>
          <c:dLbls>
            <c:numFmt formatCode="0&quot;%&quot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Convenience</c:v>
                </c:pt>
                <c:pt idx="1">
                  <c:v>Price &amp; value</c:v>
                </c:pt>
                <c:pt idx="2">
                  <c:v>Food quality</c:v>
                </c:pt>
                <c:pt idx="3">
                  <c:v>Variety</c:v>
                </c:pt>
                <c:pt idx="4">
                  <c:v>Seating</c:v>
                </c:pt>
                <c:pt idx="5">
                  <c:v>Waiting</c:v>
                </c:pt>
                <c:pt idx="6">
                  <c:v>Cleanliness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20</c:v>
                </c:pt>
                <c:pt idx="2">
                  <c:v>9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2-9D4F-893D-8F744F8A2E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Retention — brings back (Q6)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&quot;%&quot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Convenience</c:v>
                </c:pt>
                <c:pt idx="1">
                  <c:v>Price &amp; value</c:v>
                </c:pt>
                <c:pt idx="2">
                  <c:v>Food quality</c:v>
                </c:pt>
                <c:pt idx="3">
                  <c:v>Variety</c:v>
                </c:pt>
                <c:pt idx="4">
                  <c:v>Seating</c:v>
                </c:pt>
                <c:pt idx="5">
                  <c:v>Waiting</c:v>
                </c:pt>
                <c:pt idx="6">
                  <c:v>Cleanliness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33</c:v>
                </c:pt>
                <c:pt idx="2">
                  <c:v>23</c:v>
                </c:pt>
                <c:pt idx="3">
                  <c:v>7</c:v>
                </c:pt>
                <c:pt idx="4">
                  <c:v>13</c:v>
                </c:pt>
                <c:pt idx="5">
                  <c:v>12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72-9D4F-893D-8F744F8A2E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0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Likely to revisit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421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Student</c:v>
                </c:pt>
                <c:pt idx="1">
                  <c:v>Faculty</c:v>
                </c:pt>
                <c:pt idx="2">
                  <c:v>Off-campus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81.7</c:v>
                </c:pt>
                <c:pt idx="1">
                  <c:v>87.5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59-CC4F-BABE-7BF26DF42B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0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Below 35 (n=116)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Price &amp; value</c:v>
                </c:pt>
                <c:pt idx="1">
                  <c:v>Food quality</c:v>
                </c:pt>
                <c:pt idx="2">
                  <c:v>Comfort &amp; service
(seating, waiting, cleanliness, variety)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26</c:v>
                </c:pt>
                <c:pt idx="2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D-A244-98C7-77CCDF83BC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 and above (n=43)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Price &amp; value</c:v>
                </c:pt>
                <c:pt idx="1">
                  <c:v>Food quality</c:v>
                </c:pt>
                <c:pt idx="2">
                  <c:v>Comfort &amp; service
(seating, waiting, cleanliness, variety)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</c:v>
                </c:pt>
                <c:pt idx="1">
                  <c:v>16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CD-A244-98C7-77CCDF83BC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0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Likely to revisit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Satisfied (≥4)</c:v>
                </c:pt>
                <c:pt idx="1">
                  <c:v>Not satisfied (≤3)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86.7</c:v>
                </c:pt>
                <c:pt idx="1">
                  <c:v>73.900000000000006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A-5D48-BC8F-5E74DFBE68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to recommend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05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Satisfied (≥4)</c:v>
                </c:pt>
                <c:pt idx="1">
                  <c:v>Not satisfied (≤3)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91.2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A-5D48-BC8F-5E74DFBE68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670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omitted the tourists as we do not have a valid source of data to estimate the tourist flow, but it would not affect our n as the tourists amount is small compared to students and workers, so N is large enough for the precise population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040880" y="-1280160"/>
            <a:ext cx="4206240" cy="4206240"/>
          </a:xfrm>
          <a:prstGeom prst="ellipse">
            <a:avLst/>
          </a:prstGeom>
          <a:solidFill>
            <a:srgbClr val="1E33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0" y="2377440"/>
            <a:ext cx="3108960" cy="3108960"/>
          </a:xfrm>
          <a:prstGeom prst="ellipse">
            <a:avLst/>
          </a:prstGeom>
          <a:solidFill>
            <a:srgbClr val="234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5669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ECON6025-G1  ·  DATA SAMPLING  ·  AY 2025/26 TERM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234440"/>
            <a:ext cx="7498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Customer Satisfaction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Revisit Intention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2788920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07A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2B07A"/>
                </a:solidFill>
                <a:latin typeface="Calibri"/>
                <a:ea typeface="Calibri"/>
                <a:cs typeface="Calibri"/>
                <a:sym typeface="Calibri"/>
              </a:rPr>
              <a:t>Koufu @ SMU</a:t>
            </a:r>
            <a:r>
              <a:rPr i="1" lang="en-US" sz="1550">
                <a:solidFill>
                  <a:srgbClr val="F2B07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1" lang="en-US" sz="1550" u="none" cap="none" strike="noStrike">
                <a:solidFill>
                  <a:srgbClr val="F2B0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550">
                <a:solidFill>
                  <a:srgbClr val="F2B07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1" lang="en-US" sz="1550" u="none" cap="none" strike="noStrike">
                <a:solidFill>
                  <a:srgbClr val="F2B07A"/>
                </a:solidFill>
                <a:latin typeface="Calibri"/>
                <a:ea typeface="Calibri"/>
                <a:cs typeface="Calibri"/>
                <a:sym typeface="Calibri"/>
              </a:rPr>
              <a:t> probability-based systematic sampling study of food-court demand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53" y="370332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XU Cheng · Smitha Manjunath · Sha Ning · Maria Blasco · Neha Dileep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000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 June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 Food Court Under Competitive Pressure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46304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06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Koufu </a:t>
            </a:r>
            <a:r>
              <a:rPr lang="en-US" sz="1450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at the </a:t>
            </a: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basement of the Li Ka Shing Library </a:t>
            </a:r>
            <a:r>
              <a:rPr lang="en-US" sz="1450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 the SMU campus</a:t>
            </a:r>
            <a:endParaRPr sz="1450">
              <a:solidFill>
                <a:srgbClr val="2B34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Competes</a:t>
            </a: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 with Food Dynasty, Open House</a:t>
            </a:r>
            <a:r>
              <a:rPr lang="en-US" sz="1450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Subway in the Bras Basah area.</a:t>
            </a:r>
            <a:endParaRPr b="0" i="0" sz="1450" u="none" cap="none" strike="noStrike">
              <a:solidFill>
                <a:srgbClr val="2B34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We use </a:t>
            </a:r>
            <a:r>
              <a:rPr b="1" i="0" lang="en-US" sz="14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customer satisfaction and revisit intention</a:t>
            </a:r>
            <a:r>
              <a:rPr b="0" i="0" lang="en-US" sz="1450" u="none" cap="none" strike="noStrike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 as a proxy for that demand </a:t>
            </a:r>
            <a:endParaRPr sz="1450">
              <a:solidFill>
                <a:srgbClr val="2B34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B3445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2B3445"/>
                </a:solidFill>
                <a:latin typeface="Calibri"/>
                <a:ea typeface="Calibri"/>
                <a:cs typeface="Calibri"/>
                <a:sym typeface="Calibri"/>
              </a:rPr>
              <a:t>This study provides probability-based estimates to guide Koufu's decisions on retention, pricing, and service investment. </a:t>
            </a:r>
            <a:endParaRPr sz="1450">
              <a:solidFill>
                <a:srgbClr val="2B34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349240" y="1481328"/>
            <a:ext cx="3337560" cy="987552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532120" y="1728216"/>
            <a:ext cx="493776" cy="493776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5440" y="1861536"/>
            <a:ext cx="227137" cy="2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6199632" y="16276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70+ outlets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99632" y="1956816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 national food-court chain, with one </a:t>
            </a:r>
            <a:r>
              <a:rPr lang="en-US" sz="10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r>
              <a:rPr b="0" i="0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 hall embedded inside the SMU campus.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349240" y="2615184"/>
            <a:ext cx="3337560" cy="987552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532120" y="2862072"/>
            <a:ext cx="493776" cy="493776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5440" y="2995392"/>
            <a:ext cx="227137" cy="2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6199632" y="2761488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Mid-lower market tier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99632" y="3090672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Positioned below Food Republic / Food Junction — value over prestige.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49240" y="3749040"/>
            <a:ext cx="3337560" cy="987552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532120" y="3995928"/>
            <a:ext cx="493776" cy="493776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5440" y="4129248"/>
            <a:ext cx="227137" cy="2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199632" y="3895344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Crowded catchment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99632" y="4224528"/>
            <a:ext cx="23957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Surrounded by competing F&amp;B in the Bras Basah district.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02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RESEARCH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Four Questions, Four Hypotheses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1481328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85800" y="1737360"/>
            <a:ext cx="713232" cy="566928"/>
          </a:xfrm>
          <a:prstGeom prst="roundRect">
            <a:avLst>
              <a:gd fmla="val 12903" name="adj"/>
            </a:avLst>
          </a:prstGeom>
          <a:solidFill>
            <a:srgbClr val="2C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85800" y="1737360"/>
            <a:ext cx="713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57600" y="1719072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5733" y="186720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1554480" y="1719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Pull drivers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554480" y="2121408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hat attracts customers in the first place?  H₁: </a:t>
            </a: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Locational convenience is the dominant pull driver </a:t>
            </a:r>
            <a:endParaRPr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645152" y="1481328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873752" y="1737360"/>
            <a:ext cx="713232" cy="566928"/>
          </a:xfrm>
          <a:prstGeom prst="roundRect">
            <a:avLst>
              <a:gd fmla="val 12903" name="adj"/>
            </a:avLst>
          </a:prstGeom>
          <a:solidFill>
            <a:srgbClr val="E88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73752" y="1737360"/>
            <a:ext cx="713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845552" y="1719072"/>
            <a:ext cx="548640" cy="548640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3685" y="186720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5742432" y="17190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Retention drivers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742432" y="2121408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What brings them back?  H₁: price and food quality </a:t>
            </a:r>
            <a:r>
              <a:rPr lang="en-US" sz="1100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are the leading retention drivers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3108960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85800" y="3364992"/>
            <a:ext cx="713232" cy="566928"/>
          </a:xfrm>
          <a:prstGeom prst="roundRect">
            <a:avLst>
              <a:gd fmla="val 12903" name="adj"/>
            </a:avLst>
          </a:prstGeom>
          <a:solidFill>
            <a:srgbClr val="1B99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85800" y="3364992"/>
            <a:ext cx="713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657600" y="3346704"/>
            <a:ext cx="548640" cy="548640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5733" y="349483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1554480" y="334670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Off-campus share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554480" y="3749040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Who makes up the Koufu</a:t>
            </a: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’s Customer </a:t>
            </a:r>
            <a:r>
              <a:rPr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base?  H₁: </a:t>
            </a: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off-campus share is below 0.50 (demand is majority on-campus) </a:t>
            </a:r>
            <a:endParaRPr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45152" y="3108960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873752" y="3364992"/>
            <a:ext cx="713232" cy="566928"/>
          </a:xfrm>
          <a:prstGeom prst="roundRect">
            <a:avLst>
              <a:gd fmla="val 12903" name="adj"/>
            </a:avLst>
          </a:prstGeom>
          <a:solidFill>
            <a:srgbClr val="C95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873752" y="3364992"/>
            <a:ext cx="7132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845552" y="3346704"/>
            <a:ext cx="548640" cy="548640"/>
          </a:xfrm>
          <a:prstGeom prst="ellipse">
            <a:avLst/>
          </a:prstGeom>
          <a:solidFill>
            <a:srgbClr val="C9533F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3685" y="349483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5742432" y="334670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Heterogeneity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742432" y="3749040"/>
            <a:ext cx="19933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Does </a:t>
            </a: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retention differ by age group?  H₁: </a:t>
            </a: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The retention driven profile differs by age group. </a:t>
            </a:r>
            <a:endParaRPr i="0" sz="11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Hypotheses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04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Building the Sampling Frame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4173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ESTIMATING THE POPULATION (N)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1783080"/>
            <a:ext cx="416052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58368" y="2057400"/>
            <a:ext cx="475488" cy="475488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750" y="218578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1298448" y="1911096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≈ 14,467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788920" y="1965960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SMU students &amp; faculty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298448" y="23317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10,294 UG + 3,766 PG + 407 faculty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2916936"/>
            <a:ext cx="4160520" cy="1024128"/>
          </a:xfrm>
          <a:prstGeom prst="roundRect">
            <a:avLst>
              <a:gd fmla="val 803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58368" y="3191256"/>
            <a:ext cx="475488" cy="475488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750" y="331963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298448" y="3044952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≈ 24,011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88920" y="3099816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Nearby workers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298448" y="346557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Within a 500 m catchment across 3 planning 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4069080"/>
            <a:ext cx="4160520" cy="548640"/>
          </a:xfrm>
          <a:prstGeom prst="roundRect">
            <a:avLst>
              <a:gd fmla="val 13333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406908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N = 38,478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estimated potential-customer pool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SAMPLING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937760" y="1783080"/>
            <a:ext cx="3749040" cy="2834640"/>
          </a:xfrm>
          <a:prstGeom prst="roundRect">
            <a:avLst>
              <a:gd fmla="val 2903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166360" y="2011680"/>
            <a:ext cx="566928" cy="566928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9431" y="21647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5870448" y="206654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Systematic 1-in-k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193792" y="267004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Random start, then every k-th customer — SRS-like representativeness, easy in the field.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138928" y="3291840"/>
            <a:ext cx="1481328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138928" y="3346704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5F8A"/>
                </a:solidFill>
                <a:latin typeface="Cambria"/>
                <a:ea typeface="Cambria"/>
                <a:cs typeface="Cambria"/>
                <a:sym typeface="Cambria"/>
              </a:rPr>
              <a:t>k =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138928" y="3621024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INTERVAL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766560" y="3291840"/>
            <a:ext cx="1481328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766560" y="3346704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5F8A"/>
                </a:solidFill>
                <a:latin typeface="Cambria"/>
                <a:ea typeface="Cambria"/>
                <a:cs typeface="Cambria"/>
                <a:sym typeface="Cambria"/>
              </a:rPr>
              <a:t>B = 0.08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766560" y="3621024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MARGIN OF ERROR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138928" y="3950208"/>
            <a:ext cx="1481328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138928" y="400507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5F8A"/>
                </a:solidFill>
                <a:latin typeface="Cambria"/>
                <a:ea typeface="Cambria"/>
                <a:cs typeface="Cambria"/>
                <a:sym typeface="Cambria"/>
              </a:rPr>
              <a:t>p = q = 0.5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138928" y="4279392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MAX VARIABILITY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766560" y="3950208"/>
            <a:ext cx="1481328" cy="566928"/>
          </a:xfrm>
          <a:prstGeom prst="roundRect">
            <a:avLst>
              <a:gd fmla="val 1129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766560" y="4005072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5F8A"/>
                </a:solidFill>
                <a:latin typeface="Cambria"/>
                <a:ea typeface="Cambria"/>
                <a:cs typeface="Cambria"/>
                <a:sym typeface="Cambria"/>
              </a:rPr>
              <a:t>n = 156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66560" y="4279392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REQUIRED SAMPLE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Methodology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05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FIELDWORK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How We Collected the Data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1481328"/>
            <a:ext cx="512064" cy="512064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57" y="1619585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1097280" y="1463040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4 days · 8 shifts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97280" y="1792224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15–18 June, across lunch (12:00–</a:t>
            </a: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:30) and dinner (6:00–7:30).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2267712"/>
            <a:ext cx="512064" cy="51206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457" y="2405969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097280" y="2249424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Tray-return intercept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097280" y="2578608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Surveyed at the tray-return point — only people who actually 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3054096"/>
            <a:ext cx="512064" cy="512064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457" y="3192353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1097280" y="3035808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Random start, every 5th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097280" y="3364992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Standard systematic procedure; responses logged in MS Forms.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3840480"/>
            <a:ext cx="512064" cy="512064"/>
          </a:xfrm>
          <a:prstGeom prst="ellipse">
            <a:avLst/>
          </a:prstGeom>
          <a:solidFill>
            <a:srgbClr val="667085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457" y="397873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1097280" y="3822192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Pilot of 33 responses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97280" y="4151376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Checked item clarity and flow before full deployment.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532120" y="1481328"/>
            <a:ext cx="3154680" cy="3154680"/>
          </a:xfrm>
          <a:prstGeom prst="roundRect">
            <a:avLst>
              <a:gd fmla="val 2899" name="adj"/>
            </a:avLst>
          </a:prstGeom>
          <a:solidFill>
            <a:srgbClr val="14213D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532120" y="182880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FINAL SAMPLE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532120" y="214884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 = 159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532120" y="312724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respondents after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5989320" y="3611880"/>
            <a:ext cx="2240280" cy="0"/>
          </a:xfrm>
          <a:prstGeom prst="straightConnector1">
            <a:avLst/>
          </a:prstGeom>
          <a:noFill/>
          <a:ln cap="flat" cmpd="sng" w="12700">
            <a:solidFill>
              <a:srgbClr val="2E4A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/>
          <p:nvPr/>
        </p:nvSpPr>
        <p:spPr>
          <a:xfrm>
            <a:off x="5760720" y="3730752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Exceeds the required n = 156 · “other” responses filtered per question · skip-logic answers removed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Fieldwork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06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RESULTS · WHO 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Who Eats at Koufu?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7"/>
          <p:cNvGraphicFramePr/>
          <p:nvPr/>
        </p:nvGraphicFramePr>
        <p:xfrm>
          <a:off x="320040" y="1417320"/>
          <a:ext cx="411480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5" name="Google Shape;165;p7"/>
          <p:cNvSpPr/>
          <p:nvPr/>
        </p:nvSpPr>
        <p:spPr>
          <a:xfrm>
            <a:off x="4709160" y="1481328"/>
            <a:ext cx="3977640" cy="96012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910328" y="1728216"/>
            <a:ext cx="475488" cy="475488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8710" y="1856598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5559552" y="162763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Two-thirds captive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559552" y="1938528"/>
            <a:ext cx="30358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Students (51.6%) + faculty (15.1%) — a campus base.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709160" y="2560320"/>
            <a:ext cx="3977640" cy="96012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910328" y="2807208"/>
            <a:ext cx="475488" cy="475488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710" y="293559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559552" y="2706624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73% under 35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559552" y="3017520"/>
            <a:ext cx="30358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 young, student-skewed crowd; gender splits ~50/50.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709160" y="3639312"/>
            <a:ext cx="3977640" cy="96012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910328" y="3886200"/>
            <a:ext cx="475488" cy="475488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8710" y="401458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5559552" y="3785616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66% are habitual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559552" y="4096512"/>
            <a:ext cx="30358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Visit weekly (41.5%) or 2–3× a month (24.5%) — not one-offs.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Respondent profile (Table A1)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07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HYPOTHESIS H3 · OFF-CAMPUS SHARE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Demand Is Majority On-Campus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1481328"/>
            <a:ext cx="2743200" cy="3063240"/>
          </a:xfrm>
          <a:prstGeom prst="roundRect">
            <a:avLst>
              <a:gd fmla="val 3333" name="adj"/>
            </a:avLst>
          </a:prstGeom>
          <a:solidFill>
            <a:srgbClr val="14213D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5720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OFF-CAMPUS SHARE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2121408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33.3%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30358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95% CI  0.260 – 0.407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68680" y="3520440"/>
            <a:ext cx="1920240" cy="502920"/>
          </a:xfrm>
          <a:prstGeom prst="roundRect">
            <a:avLst>
              <a:gd fmla="val 49091" name="adj"/>
            </a:avLst>
          </a:prstGeom>
          <a:solidFill>
            <a:srgbClr val="1B99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68680" y="35204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REJECT H₀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611880" y="15727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Composition of the customer 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611880" y="2148840"/>
            <a:ext cx="3323981" cy="7772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935861" y="2148840"/>
            <a:ext cx="1659499" cy="777240"/>
          </a:xfrm>
          <a:prstGeom prst="rect">
            <a:avLst/>
          </a:prstGeom>
          <a:solidFill>
            <a:srgbClr val="E88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611880" y="2148840"/>
            <a:ext cx="3323981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On-campus  66.7%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935861" y="2148840"/>
            <a:ext cx="1659499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  33.3%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6103620" y="1947672"/>
            <a:ext cx="0" cy="1179576"/>
          </a:xfrm>
          <a:prstGeom prst="straightConnector1">
            <a:avLst/>
          </a:prstGeom>
          <a:noFill/>
          <a:ln cap="flat" cmpd="sng" w="22225">
            <a:solidFill>
              <a:srgbClr val="C9533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5326380" y="1728216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533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533F"/>
                </a:solidFill>
                <a:latin typeface="Calibri"/>
                <a:ea typeface="Calibri"/>
                <a:cs typeface="Calibri"/>
                <a:sym typeface="Calibri"/>
              </a:rPr>
              <a:t>0.50 reference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11880" y="3383280"/>
            <a:ext cx="4983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The whole interval sits below 0.50</a:t>
            </a:r>
            <a:r>
              <a:rPr b="0" i="0" lang="en-US" sz="130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, so demand is significantly majority on-campus. Yet it stays above 0.25 — the off-campus third is a </a:t>
            </a:r>
            <a:r>
              <a:rPr b="1" i="0" lang="en-US" sz="13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material, competition-exposed minority</a:t>
            </a:r>
            <a:r>
              <a:rPr b="0" i="0" lang="en-US" sz="130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 that must be actively retained.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H3 (Q1)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08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HYPOTHESIS H1 · PULL DRIVERS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Convenience Pulls Them In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9"/>
          <p:cNvGraphicFramePr/>
          <p:nvPr/>
        </p:nvGraphicFramePr>
        <p:xfrm>
          <a:off x="411480" y="1463040"/>
          <a:ext cx="5349240" cy="3154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3" name="Google Shape;213;p9"/>
          <p:cNvSpPr/>
          <p:nvPr/>
        </p:nvSpPr>
        <p:spPr>
          <a:xfrm>
            <a:off x="5989320" y="1481328"/>
            <a:ext cx="2697480" cy="3108960"/>
          </a:xfrm>
          <a:prstGeom prst="roundRect">
            <a:avLst>
              <a:gd fmla="val 3051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6199632" y="1719072"/>
            <a:ext cx="548640" cy="548640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7765" y="186720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6858000" y="1755648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5F8A"/>
                </a:solidFill>
                <a:latin typeface="Cambria"/>
                <a:ea typeface="Cambria"/>
                <a:cs typeface="Cambria"/>
                <a:sym typeface="Cambria"/>
              </a:rPr>
              <a:t>d̂ = 0.346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858000" y="213969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convenience − 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236208" y="24323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95% CI  0.223 – 0.469  ·  excludes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36208" y="2798064"/>
            <a:ext cx="1691640" cy="457200"/>
          </a:xfrm>
          <a:prstGeom prst="roundRect">
            <a:avLst>
              <a:gd fmla="val 50000" name="adj"/>
            </a:avLst>
          </a:prstGeom>
          <a:solidFill>
            <a:srgbClr val="1B99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236208" y="2798064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REJECT H₀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236208" y="3401568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The demand signature of a captive location: customers arrive because Koufu is convenient — not because it won them on quality.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H1 (Q5, Table A2)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09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HYPOTHESIS H2 · RETENTION DRIVERS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But Value &amp; Quality Bring Them Back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10"/>
          <p:cNvGraphicFramePr/>
          <p:nvPr/>
        </p:nvGraphicFramePr>
        <p:xfrm>
          <a:off x="365760" y="1417320"/>
          <a:ext cx="5577840" cy="32461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32" name="Google Shape;232;p10"/>
          <p:cNvSpPr/>
          <p:nvPr/>
        </p:nvSpPr>
        <p:spPr>
          <a:xfrm>
            <a:off x="6080760" y="1188720"/>
            <a:ext cx="2606040" cy="342900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291072" y="1353312"/>
            <a:ext cx="1828800" cy="384048"/>
          </a:xfrm>
          <a:prstGeom prst="roundRect">
            <a:avLst>
              <a:gd fmla="val 23810" name="adj"/>
            </a:avLst>
          </a:prstGeom>
          <a:solidFill>
            <a:srgbClr val="E88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291072" y="135331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★  KEY FINDING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291072" y="182880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The picture flips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291072" y="2157984"/>
            <a:ext cx="22402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Convenience</a:t>
            </a:r>
            <a:r>
              <a:rPr b="0" i="0" lang="en-US" sz="11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 pulled in the majority but is cited as a reason to </a:t>
            </a:r>
            <a:r>
              <a:rPr b="1" i="0" lang="en-US" sz="115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return by almost no one.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91072" y="2907792"/>
            <a:ext cx="2240280" cy="457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419088" y="2907792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Food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9% → 23%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291072" y="3438144"/>
            <a:ext cx="2240280" cy="4572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419088" y="343814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Price &amp;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589520" y="3438144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20% → 33%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291072" y="4005072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Locational lock-in wins the first visit; the value proposition wins the repeat.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H2 (Q5 vs Q6)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10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RESULTS · REPEAT DEMAND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Strong — but Convenience-Driven — Loyalty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1481328"/>
            <a:ext cx="2468880" cy="3108960"/>
          </a:xfrm>
          <a:prstGeom prst="roundRect">
            <a:avLst>
              <a:gd fmla="val 3704" name="adj"/>
            </a:avLst>
          </a:prstGeom>
          <a:solidFill>
            <a:srgbClr val="14213D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" y="18288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LIKELY TO REVISIT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57200" y="2103120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83.0%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57200" y="2999232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within a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CI 0.772 – 0.889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66928" y="36576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Read with care: partly convenience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&amp; few weekday substitutes, not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active loyalty.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154680" y="1481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Revisit is uniform across segments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1"/>
          <p:cNvGraphicFramePr/>
          <p:nvPr/>
        </p:nvGraphicFramePr>
        <p:xfrm>
          <a:off x="3108960" y="1783080"/>
          <a:ext cx="3246120" cy="2788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60" name="Google Shape;260;p11"/>
          <p:cNvSpPr/>
          <p:nvPr/>
        </p:nvSpPr>
        <p:spPr>
          <a:xfrm>
            <a:off x="6537960" y="1783080"/>
            <a:ext cx="2148840" cy="2788920"/>
          </a:xfrm>
          <a:prstGeom prst="roundRect">
            <a:avLst>
              <a:gd fmla="val 3830" name="adj"/>
            </a:avLst>
          </a:prstGeom>
          <a:solidFill>
            <a:srgbClr val="FBF1EC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748272" y="2011680"/>
            <a:ext cx="512064" cy="512064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6529" y="214993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6693408" y="26060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Scaled to the catchment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693408" y="31089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≈ 6,530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693408" y="36118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3A33"/>
                </a:solidFill>
                <a:latin typeface="Calibri"/>
                <a:ea typeface="Calibri"/>
                <a:cs typeface="Calibri"/>
                <a:sym typeface="Calibri"/>
              </a:rPr>
              <a:t>customers at risk of not returning (17% of N = 38,478; CI ≈ 4,300–8,800).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Revisit (Q8, Table 4.5)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11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HYPOTHESIS H4 · HETEROGENEITY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Retention Drivers Differ by Age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12"/>
          <p:cNvGraphicFramePr/>
          <p:nvPr/>
        </p:nvGraphicFramePr>
        <p:xfrm>
          <a:off x="411480" y="1463040"/>
          <a:ext cx="5486400" cy="3154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76" name="Google Shape;276;p12"/>
          <p:cNvSpPr/>
          <p:nvPr/>
        </p:nvSpPr>
        <p:spPr>
          <a:xfrm>
            <a:off x="6080760" y="1481328"/>
            <a:ext cx="2606040" cy="310896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291072" y="1719072"/>
            <a:ext cx="548640" cy="548640"/>
          </a:xfrm>
          <a:prstGeom prst="ellipse">
            <a:avLst/>
          </a:prstGeom>
          <a:solidFill>
            <a:srgbClr val="C9533F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9205" y="186720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6949440" y="17373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533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9533F"/>
                </a:solidFill>
                <a:latin typeface="Cambria"/>
                <a:ea typeface="Cambria"/>
                <a:cs typeface="Cambria"/>
                <a:sym typeface="Cambria"/>
              </a:rPr>
              <a:t>χ² = 6.47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949440" y="21031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df = 2 · p = 0.040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291072" y="2423160"/>
            <a:ext cx="1783080" cy="438912"/>
          </a:xfrm>
          <a:prstGeom prst="roundRect">
            <a:avLst>
              <a:gd fmla="val 50000" name="adj"/>
            </a:avLst>
          </a:prstGeom>
          <a:solidFill>
            <a:srgbClr val="1B99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291072" y="2423160"/>
            <a:ext cx="1783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REJECT H₀ (age)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291072" y="3017520"/>
            <a:ext cx="2240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40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05A"/>
                </a:solidFill>
                <a:latin typeface="Calibri"/>
                <a:ea typeface="Calibri"/>
                <a:cs typeface="Calibri"/>
                <a:sym typeface="Calibri"/>
              </a:rPr>
              <a:t>Older customers value comfort &amp; service (60%); younger ones chase price &amp; quality. </a:t>
            </a:r>
            <a:r>
              <a:rPr b="1" i="0" lang="en-US" sz="11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Whether they return is identical across ages — only what would retain them differs.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H4 (Q6 × age)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12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RESULTS · THE CENTRAL ASYMMETRY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Satisfaction Drives Advocacy, Not Revisit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13"/>
          <p:cNvGraphicFramePr/>
          <p:nvPr/>
        </p:nvGraphicFramePr>
        <p:xfrm>
          <a:off x="411480" y="1463040"/>
          <a:ext cx="5440680" cy="31546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4" name="Google Shape;294;p13"/>
          <p:cNvSpPr/>
          <p:nvPr/>
        </p:nvSpPr>
        <p:spPr>
          <a:xfrm>
            <a:off x="6035040" y="1481328"/>
            <a:ext cx="2651760" cy="1371600"/>
          </a:xfrm>
          <a:prstGeom prst="roundRect">
            <a:avLst>
              <a:gd fmla="val 6000" name="adj"/>
            </a:avLst>
          </a:prstGeom>
          <a:solidFill>
            <a:srgbClr val="EAF3F1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236208" y="162763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RECOMMEND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236208" y="186537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B998B"/>
                </a:solidFill>
                <a:latin typeface="Cambria"/>
                <a:ea typeface="Cambria"/>
                <a:cs typeface="Cambria"/>
                <a:sym typeface="Cambria"/>
              </a:rPr>
              <a:t>d̂ = 0.412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236208" y="228600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34A4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34A45"/>
                </a:solidFill>
                <a:latin typeface="Calibri"/>
                <a:ea typeface="Calibri"/>
                <a:cs typeface="Calibri"/>
                <a:sym typeface="Calibri"/>
              </a:rPr>
              <a:t>CI 0.258 – 0.565 · excludes 0 → reject H₀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035040" y="2971800"/>
            <a:ext cx="2651760" cy="1371600"/>
          </a:xfrm>
          <a:prstGeom prst="roundRect">
            <a:avLst>
              <a:gd fmla="val 6000" name="adj"/>
            </a:avLst>
          </a:prstGeom>
          <a:solidFill>
            <a:srgbClr val="FBF1EC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236208" y="311810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533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533F"/>
                </a:solidFill>
                <a:latin typeface="Calibri"/>
                <a:ea typeface="Calibri"/>
                <a:cs typeface="Calibri"/>
                <a:sym typeface="Calibri"/>
              </a:rPr>
              <a:t>REVISIT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236208" y="335584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533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9533F"/>
                </a:solidFill>
                <a:latin typeface="Cambria"/>
                <a:ea typeface="Cambria"/>
                <a:cs typeface="Cambria"/>
                <a:sym typeface="Cambria"/>
              </a:rPr>
              <a:t>d̂ = 0.128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236208" y="377647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3A33"/>
                </a:solidFill>
                <a:latin typeface="Calibri"/>
                <a:ea typeface="Calibri"/>
                <a:cs typeface="Calibri"/>
                <a:sym typeface="Calibri"/>
              </a:rPr>
              <a:t>CI −0.013 – 0.270 · contains 0 → fail to reject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Convenience sustains revisit even when satisfaction is low; only satisfaction wins recommenders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13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SYNTHESIS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All Four Hypotheses: H₀ Rejected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57200" y="1481328"/>
            <a:ext cx="8229600" cy="694944"/>
          </a:xfrm>
          <a:prstGeom prst="roundRect">
            <a:avLst>
              <a:gd fmla="val 11842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640080" y="1609344"/>
            <a:ext cx="676656" cy="438912"/>
          </a:xfrm>
          <a:prstGeom prst="roundRect">
            <a:avLst>
              <a:gd fmla="val 16667" name="adj"/>
            </a:avLst>
          </a:prstGeom>
          <a:solidFill>
            <a:srgbClr val="2C5F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640080" y="1609344"/>
            <a:ext cx="6766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1508760" y="1481328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Convenience is the dominant pull driver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074920" y="1481328"/>
            <a:ext cx="1965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Δ vs price = 0.346  (CI 0.223–0.469)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863840" y="1618488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408" y="1732056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/>
          <p:nvPr/>
        </p:nvSpPr>
        <p:spPr>
          <a:xfrm>
            <a:off x="7132320" y="16002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57200" y="2267712"/>
            <a:ext cx="8229600" cy="694944"/>
          </a:xfrm>
          <a:prstGeom prst="roundRect">
            <a:avLst>
              <a:gd fmla="val 11842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640080" y="2395728"/>
            <a:ext cx="676656" cy="438912"/>
          </a:xfrm>
          <a:prstGeom prst="roundRect">
            <a:avLst>
              <a:gd fmla="val 16667" name="adj"/>
            </a:avLst>
          </a:prstGeom>
          <a:solidFill>
            <a:srgbClr val="E88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640080" y="2395728"/>
            <a:ext cx="6766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508760" y="2267712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Price &amp; food quality lead retention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074920" y="2267712"/>
            <a:ext cx="1965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Food − seating = 0.107  (CI 0.015–0.198)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7863840" y="2404872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408" y="2518440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/>
          <p:nvPr/>
        </p:nvSpPr>
        <p:spPr>
          <a:xfrm>
            <a:off x="7132320" y="238658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57200" y="3054096"/>
            <a:ext cx="8229600" cy="694944"/>
          </a:xfrm>
          <a:prstGeom prst="roundRect">
            <a:avLst>
              <a:gd fmla="val 11842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40080" y="3182112"/>
            <a:ext cx="676656" cy="438912"/>
          </a:xfrm>
          <a:prstGeom prst="roundRect">
            <a:avLst>
              <a:gd fmla="val 16667" name="adj"/>
            </a:avLst>
          </a:prstGeom>
          <a:solidFill>
            <a:srgbClr val="1B99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640080" y="3182112"/>
            <a:ext cx="6766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508760" y="3054096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Demand is majority on-campus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5074920" y="3054096"/>
            <a:ext cx="1965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Off-campus p̂ = 0.333  (below 0.50)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863840" y="3191256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408" y="3304824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4"/>
          <p:cNvSpPr/>
          <p:nvPr/>
        </p:nvSpPr>
        <p:spPr>
          <a:xfrm>
            <a:off x="7132320" y="317296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457200" y="3840480"/>
            <a:ext cx="8229600" cy="694944"/>
          </a:xfrm>
          <a:prstGeom prst="roundRect">
            <a:avLst>
              <a:gd fmla="val 11842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640080" y="3968496"/>
            <a:ext cx="676656" cy="438912"/>
          </a:xfrm>
          <a:prstGeom prst="roundRect">
            <a:avLst>
              <a:gd fmla="val 16667" name="adj"/>
            </a:avLst>
          </a:prstGeom>
          <a:solidFill>
            <a:srgbClr val="C95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640080" y="3968496"/>
            <a:ext cx="67665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1508760" y="3840480"/>
            <a:ext cx="3657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Retention drivers differ by 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074920" y="3840480"/>
            <a:ext cx="1965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χ² = 6.47, p = 0.040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863840" y="3977640"/>
            <a:ext cx="420624" cy="42062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408" y="4091208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4"/>
          <p:cNvSpPr/>
          <p:nvPr/>
        </p:nvSpPr>
        <p:spPr>
          <a:xfrm>
            <a:off x="7132320" y="395935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Hypothesis summary (Table 4.8)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14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From Evidence to Action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457200" y="1481328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694944" y="1737360"/>
            <a:ext cx="603504" cy="603504"/>
          </a:xfrm>
          <a:prstGeom prst="ellipse">
            <a:avLst/>
          </a:prstGeom>
          <a:solidFill>
            <a:srgbClr val="2C5F8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890" y="1900306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5"/>
          <p:cNvSpPr/>
          <p:nvPr/>
        </p:nvSpPr>
        <p:spPr>
          <a:xfrm>
            <a:off x="1481328" y="1700784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Win the captive footfall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1481328" y="206654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8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5F8A"/>
                </a:solidFill>
                <a:latin typeface="Calibri"/>
                <a:ea typeface="Calibri"/>
                <a:cs typeface="Calibri"/>
                <a:sym typeface="Calibri"/>
              </a:rPr>
              <a:t>Tied to H1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481328" y="2304288"/>
            <a:ext cx="28529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Maximise on-campus visibility and use SMU's own channels; skip off-campus digital ads.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645152" y="1481328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4882896" y="1737360"/>
            <a:ext cx="603504" cy="603504"/>
          </a:xfrm>
          <a:prstGeom prst="ellipse">
            <a:avLst/>
          </a:prstGeom>
          <a:solidFill>
            <a:srgbClr val="E8833A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842" y="1900306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/>
          <p:nvPr/>
        </p:nvSpPr>
        <p:spPr>
          <a:xfrm>
            <a:off x="5669280" y="1700784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Compete on value &amp; quality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669280" y="206654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Tied to H2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669280" y="2304288"/>
            <a:ext cx="28529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Targeted student value meals and rigorous food-quality control turn first visits into habits.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57200" y="3108960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694944" y="3364992"/>
            <a:ext cx="603504" cy="603504"/>
          </a:xfrm>
          <a:prstGeom prst="ellipse">
            <a:avLst/>
          </a:prstGeom>
          <a:solidFill>
            <a:srgbClr val="C9533F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890" y="352793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/>
          <p:nvPr/>
        </p:nvSpPr>
        <p:spPr>
          <a:xfrm>
            <a:off x="1481328" y="332841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Segment by 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481328" y="369417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533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9533F"/>
                </a:solidFill>
                <a:latin typeface="Calibri"/>
                <a:ea typeface="Calibri"/>
                <a:cs typeface="Calibri"/>
                <a:sym typeface="Calibri"/>
              </a:rPr>
              <a:t>Tied to H4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481328" y="3931920"/>
            <a:ext cx="28529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Aggressive pricing for the young majority; comfort, seating and speed for older diners.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645152" y="3108960"/>
            <a:ext cx="4041648" cy="1481328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4882896" y="3364992"/>
            <a:ext cx="603504" cy="603504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5842" y="352793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/>
          <p:nvPr/>
        </p:nvSpPr>
        <p:spPr>
          <a:xfrm>
            <a:off x="5669280" y="332841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Turn satisfaction into advocacy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669280" y="369417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Tied to 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669280" y="3931920"/>
            <a:ext cx="28529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Lift satisfaction past neutral to create promoters and capture the off-campus third.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Recommendations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15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CAVEATS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457200" y="603504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Limitations to Bear in Mind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457200" y="1554480"/>
            <a:ext cx="4041648" cy="1371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694944" y="1792224"/>
            <a:ext cx="548640" cy="548640"/>
          </a:xfrm>
          <a:prstGeom prst="ellipse">
            <a:avLst/>
          </a:prstGeom>
          <a:solidFill>
            <a:srgbClr val="667085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77" y="194035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6"/>
          <p:cNvSpPr/>
          <p:nvPr/>
        </p:nvSpPr>
        <p:spPr>
          <a:xfrm>
            <a:off x="1417320" y="175564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Stated, not revealed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1417320" y="212140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83% say they'll return — but intention need not match actual footfall.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4645152" y="1554480"/>
            <a:ext cx="4041648" cy="1371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4882896" y="1792224"/>
            <a:ext cx="548640" cy="548640"/>
          </a:xfrm>
          <a:prstGeom prst="ellipse">
            <a:avLst/>
          </a:prstGeom>
          <a:solidFill>
            <a:srgbClr val="667085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1029" y="194035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6"/>
          <p:cNvSpPr/>
          <p:nvPr/>
        </p:nvSpPr>
        <p:spPr>
          <a:xfrm>
            <a:off x="5605272" y="175564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Single-week window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5605272" y="212140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No coverage of exam weeks, recess or weekend dynamics.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57200" y="3072384"/>
            <a:ext cx="4041648" cy="1371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694944" y="3310128"/>
            <a:ext cx="548640" cy="548640"/>
          </a:xfrm>
          <a:prstGeom prst="ellipse">
            <a:avLst/>
          </a:prstGeom>
          <a:solidFill>
            <a:srgbClr val="667085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3077" y="345826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6"/>
          <p:cNvSpPr/>
          <p:nvPr/>
        </p:nvSpPr>
        <p:spPr>
          <a:xfrm>
            <a:off x="1417320" y="32735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“Other” filtered out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417320" y="363931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Kept categories clean but excluded valid minority motivations.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645152" y="3072384"/>
            <a:ext cx="4041648" cy="1371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E4E8EF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4882896" y="3310128"/>
            <a:ext cx="548640" cy="548640"/>
          </a:xfrm>
          <a:prstGeom prst="ellipse">
            <a:avLst/>
          </a:prstGeom>
          <a:solidFill>
            <a:srgbClr val="667085"/>
          </a:solidFill>
          <a:ln>
            <a:noFill/>
          </a:ln>
          <a:effectLst>
            <a:outerShdw blurRad="114300" rotWithShape="0" algn="bl" dir="5400000" dist="38100">
              <a:srgbClr val="1B2A4A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1029" y="345826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6"/>
          <p:cNvSpPr/>
          <p:nvPr/>
        </p:nvSpPr>
        <p:spPr>
          <a:xfrm>
            <a:off x="5605272" y="32735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Faculty cell is small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605272" y="363931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n = 24 yields wide bounds for faculty-specific estimates.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Koufu × SMU · Limitations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7315200" y="48280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16  /  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"/>
          <p:cNvSpPr/>
          <p:nvPr/>
        </p:nvSpPr>
        <p:spPr>
          <a:xfrm>
            <a:off x="-1463040" y="2560320"/>
            <a:ext cx="4206240" cy="4206240"/>
          </a:xfrm>
          <a:prstGeom prst="ellipse">
            <a:avLst/>
          </a:prstGeom>
          <a:solidFill>
            <a:srgbClr val="1E33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7680960" y="-1463040"/>
            <a:ext cx="3840480" cy="3840480"/>
          </a:xfrm>
          <a:prstGeom prst="ellipse">
            <a:avLst/>
          </a:prstGeom>
          <a:solidFill>
            <a:srgbClr val="234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THE BOTTOM 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Convenience fills the room.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Value, quality &amp; satisfaction keep the revenue.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548650" y="2560325"/>
            <a:ext cx="82410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DEE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Locational lock-in wins the first visit, but repeat demand rests on price, food quality and</a:t>
            </a:r>
            <a:r>
              <a:rPr lang="en-US" sz="14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1450" u="none" cap="none" strike="noStrike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for advocacy</a:t>
            </a:r>
            <a:r>
              <a:rPr lang="en-US" sz="1450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1450" u="none" cap="none" strike="noStrike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 satisfaction. Koufu's path forward is a </a:t>
            </a:r>
            <a:r>
              <a:rPr b="1" i="0" lang="en-US" sz="1450" u="none" cap="none" strike="noStrike">
                <a:solidFill>
                  <a:srgbClr val="E8833A"/>
                </a:solidFill>
                <a:latin typeface="Calibri"/>
                <a:ea typeface="Calibri"/>
                <a:cs typeface="Calibri"/>
                <a:sym typeface="Calibri"/>
              </a:rPr>
              <a:t>dual strategy</a:t>
            </a:r>
            <a:r>
              <a:rPr b="0" i="0" lang="en-US" sz="1450" u="none" cap="none" strike="noStrike">
                <a:solidFill>
                  <a:srgbClr val="D7DEEA"/>
                </a:solidFill>
                <a:latin typeface="Calibri"/>
                <a:ea typeface="Calibri"/>
                <a:cs typeface="Calibri"/>
                <a:sym typeface="Calibri"/>
              </a:rPr>
              <a:t>: capitalise on the captive convenience while actively managing the distinct value and service expectations of each segment.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566928" y="3886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54.7%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66928" y="4370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CONVENIENCE PULLS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2578608" y="3886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56%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2578608" y="4370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VALUE+QUALITY RETURN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590288" y="3886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33.3%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590288" y="4370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OFF-CAMPUS THIRD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6601968" y="38862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3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833A"/>
                </a:solidFill>
                <a:latin typeface="Cambria"/>
                <a:ea typeface="Cambria"/>
                <a:cs typeface="Cambria"/>
                <a:sym typeface="Cambria"/>
              </a:rPr>
              <a:t>83%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6601968" y="43708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REVISIT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66928" y="477316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AB4C5"/>
                </a:solidFill>
                <a:latin typeface="Calibri"/>
                <a:ea typeface="Calibri"/>
                <a:cs typeface="Calibri"/>
                <a:sym typeface="Calibri"/>
              </a:rPr>
              <a:t>Thank you  ·  XU Cheng · Smitha Manjunath · Sha Ning · Maria · Neha Dileep  ·  ECON6025-G1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2026-06-21T16:17:26Z</dcterms:created>
  <dc:creator>XU Cheng, Smitha Manjunath, Sha Ning, Maria, Neha Dileep</dc:creator>
</cp:coreProperties>
</file>